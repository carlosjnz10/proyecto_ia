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56" r:id="rId3"/>
    <p:sldId id="259" r:id="rId4"/>
    <p:sldId id="263" r:id="rId5"/>
    <p:sldId id="257" r:id="rId6"/>
    <p:sldId id="264" r:id="rId7"/>
    <p:sldId id="258" r:id="rId8"/>
    <p:sldId id="266" r:id="rId9"/>
    <p:sldId id="267" r:id="rId10"/>
    <p:sldId id="268" r:id="rId11"/>
    <p:sldId id="269" r:id="rId12"/>
    <p:sldId id="274" r:id="rId13"/>
    <p:sldId id="275" r:id="rId14"/>
    <p:sldId id="276" r:id="rId15"/>
    <p:sldId id="277" r:id="rId16"/>
    <p:sldId id="278" r:id="rId17"/>
    <p:sldId id="279" r:id="rId18"/>
    <p:sldId id="280" r:id="rId19"/>
    <p:sldId id="282" r:id="rId20"/>
    <p:sldId id="281" r:id="rId21"/>
    <p:sldId id="273" r:id="rId2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29DA"/>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82"/>
    <p:restoredTop sz="94689"/>
  </p:normalViewPr>
  <p:slideViewPr>
    <p:cSldViewPr snapToGrid="0">
      <p:cViewPr varScale="1">
        <p:scale>
          <a:sx n="147" d="100"/>
          <a:sy n="147" d="100"/>
        </p:scale>
        <p:origin x="5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868B6F-DA9A-1680-4214-54F99C8B9343}"/>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6CBDC87D-4637-9C8E-696F-1EB9F466B8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2E8B00F3-EEF6-1CF5-FBE2-23B046F927E5}"/>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5" name="Marcador de pie de página 4">
            <a:extLst>
              <a:ext uri="{FF2B5EF4-FFF2-40B4-BE49-F238E27FC236}">
                <a16:creationId xmlns:a16="http://schemas.microsoft.com/office/drawing/2014/main" id="{546CC1FD-0CCA-2595-26B9-5CB21EF5CF6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51833F4-4F5B-5E6D-99B5-FC7D01364666}"/>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153825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1D820E-CB3B-6B56-135C-C17540FDCA69}"/>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F26C1567-ED1A-DA6E-09A7-2BE98257296E}"/>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398C3997-B327-A960-E15C-DEA1516C2B7D}"/>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5" name="Marcador de pie de página 4">
            <a:extLst>
              <a:ext uri="{FF2B5EF4-FFF2-40B4-BE49-F238E27FC236}">
                <a16:creationId xmlns:a16="http://schemas.microsoft.com/office/drawing/2014/main" id="{B1F14398-6F90-9702-04D7-ACF98CC23DE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3AC9CB7-741D-6F17-E120-EBC6F51C209A}"/>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5693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87DE29-3F41-3265-BE63-C4D73301FAC1}"/>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58D8C2A2-FFF4-C1C7-E6B2-25A544F365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85110853-8FFA-747D-E3ED-34849080731B}"/>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5" name="Marcador de pie de página 4">
            <a:extLst>
              <a:ext uri="{FF2B5EF4-FFF2-40B4-BE49-F238E27FC236}">
                <a16:creationId xmlns:a16="http://schemas.microsoft.com/office/drawing/2014/main" id="{3972CAAA-251F-9A79-FE6D-4FF78153507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A12621B-232D-099A-1312-11BE688ED99F}"/>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1074744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E82AC-CAA8-1B75-4C2D-4D7CDBF5481A}"/>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6BEAFD87-B6C9-2DCD-CC64-958EAA98EDF1}"/>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5BEF52F2-8090-A8A4-0673-2EA4210C58A5}"/>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5C150C39-D571-6AB1-D7FF-8F099B4538AB}"/>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6" name="Marcador de pie de página 5">
            <a:extLst>
              <a:ext uri="{FF2B5EF4-FFF2-40B4-BE49-F238E27FC236}">
                <a16:creationId xmlns:a16="http://schemas.microsoft.com/office/drawing/2014/main" id="{1797E83D-A272-40BD-4D2B-A12EA8BB7CC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B89626-310B-094C-586E-99A9A8979CD3}"/>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490169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89327D-49E9-CB2D-EE5A-D3D90500D03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99B5735D-452D-E596-709E-1BD94D64D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74A41B18-4140-97CA-09AC-118BD94CC831}"/>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2CEAE5CD-AC5E-22E2-4722-DF11DFE8F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6FA5487-2204-1478-9866-9341FC7F62D4}"/>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8B7444FA-B330-5107-885A-2B42F4EF0965}"/>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8" name="Marcador de pie de página 7">
            <a:extLst>
              <a:ext uri="{FF2B5EF4-FFF2-40B4-BE49-F238E27FC236}">
                <a16:creationId xmlns:a16="http://schemas.microsoft.com/office/drawing/2014/main" id="{CC370E86-D556-51DD-608E-51F05D97978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4F71DDF0-0AA9-262F-8DF3-B12300B97819}"/>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1474465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608537-2108-20C5-F24F-D328727A0FE4}"/>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A760AD6B-9619-9553-7BFE-BED42BB78B24}"/>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4" name="Marcador de pie de página 3">
            <a:extLst>
              <a:ext uri="{FF2B5EF4-FFF2-40B4-BE49-F238E27FC236}">
                <a16:creationId xmlns:a16="http://schemas.microsoft.com/office/drawing/2014/main" id="{1B440818-AD44-C958-B06D-07911AA9FC3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3D65412-F07A-6822-B91D-480BF0194AFB}"/>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180732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05F78E-E4BD-DFA1-17F3-3E410DDCE879}"/>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3" name="Marcador de pie de página 2">
            <a:extLst>
              <a:ext uri="{FF2B5EF4-FFF2-40B4-BE49-F238E27FC236}">
                <a16:creationId xmlns:a16="http://schemas.microsoft.com/office/drawing/2014/main" id="{A4E95B16-47EB-A574-81F4-68B97E16C04D}"/>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4ADB2E8D-5EBE-4CFA-AC08-5013D960C447}"/>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3599858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0139A-4A54-8E50-8533-CD2812BCDAC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08995CF4-9A9B-23D4-8489-F4D7C76DC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2DEB2F4B-80EC-41A4-95DA-EFA8B7734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0D09D3D-3079-E0C6-3C83-3DA6A49DF5B1}"/>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6" name="Marcador de pie de página 5">
            <a:extLst>
              <a:ext uri="{FF2B5EF4-FFF2-40B4-BE49-F238E27FC236}">
                <a16:creationId xmlns:a16="http://schemas.microsoft.com/office/drawing/2014/main" id="{28326BC3-9088-C5EF-B336-E6BEBC22633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31E9F6-E85D-4EAF-1168-775AFFD1CAB9}"/>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1696736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EC331-E0E1-EBB4-B31C-C1DD3786BEF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683C277C-8E2B-A7F3-AB63-C78F17F4B2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588DE5A3-67A7-3C36-2C96-72CB973F61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FEE348D-4150-3F7C-02AB-491DFAE361DF}"/>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6" name="Marcador de pie de página 5">
            <a:extLst>
              <a:ext uri="{FF2B5EF4-FFF2-40B4-BE49-F238E27FC236}">
                <a16:creationId xmlns:a16="http://schemas.microsoft.com/office/drawing/2014/main" id="{D8CEA9DE-C6D8-6178-8502-9C9A6AC5E0F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D3B4A0C-7159-0DD0-23A8-9A184DC348CB}"/>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2241450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3C4BD7-2DA4-ACC2-B1B9-79E18F68481C}"/>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0AF0D73C-E274-023C-B4A7-ECEED7147155}"/>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C14C3617-1D37-A3F8-0351-DB84E8E0D56C}"/>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5" name="Marcador de pie de página 4">
            <a:extLst>
              <a:ext uri="{FF2B5EF4-FFF2-40B4-BE49-F238E27FC236}">
                <a16:creationId xmlns:a16="http://schemas.microsoft.com/office/drawing/2014/main" id="{E24AA057-4FFE-7A88-F641-3A961F86366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6922F4D-3397-9C97-91AA-04E30918FC47}"/>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4024128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ABC629-E2DC-BED1-9C7E-14994D98D036}"/>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401BD45D-648C-220A-856A-DA595D553E2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F6C38678-BAF6-A52B-FB2A-ACC663C1F109}"/>
              </a:ext>
            </a:extLst>
          </p:cNvPr>
          <p:cNvSpPr>
            <a:spLocks noGrp="1"/>
          </p:cNvSpPr>
          <p:nvPr>
            <p:ph type="dt" sz="half" idx="10"/>
          </p:nvPr>
        </p:nvSpPr>
        <p:spPr/>
        <p:txBody>
          <a:bodyPr/>
          <a:lstStyle/>
          <a:p>
            <a:fld id="{23448B1F-04D8-AC48-AFC3-8CB37CE905F2}" type="datetimeFigureOut">
              <a:rPr lang="es-CO" smtClean="0"/>
              <a:t>27/11/25</a:t>
            </a:fld>
            <a:endParaRPr lang="es-CO"/>
          </a:p>
        </p:txBody>
      </p:sp>
      <p:sp>
        <p:nvSpPr>
          <p:cNvPr id="5" name="Marcador de pie de página 4">
            <a:extLst>
              <a:ext uri="{FF2B5EF4-FFF2-40B4-BE49-F238E27FC236}">
                <a16:creationId xmlns:a16="http://schemas.microsoft.com/office/drawing/2014/main" id="{84846C21-D293-A163-738C-16EDDB41D7B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CD3ACBA-22A3-B33C-1C8C-5FFA4619B7B6}"/>
              </a:ext>
            </a:extLst>
          </p:cNvPr>
          <p:cNvSpPr>
            <a:spLocks noGrp="1"/>
          </p:cNvSpPr>
          <p:nvPr>
            <p:ph type="sldNum" sz="quarter" idx="12"/>
          </p:nvPr>
        </p:nvSpPr>
        <p:spPr/>
        <p:txBody>
          <a:bodyPr/>
          <a:lstStyle/>
          <a:p>
            <a:fld id="{3CA6CDFC-C0B4-994B-A54D-2B4CDB11002E}" type="slidenum">
              <a:rPr lang="es-CO" smtClean="0"/>
              <a:t>‹Nº›</a:t>
            </a:fld>
            <a:endParaRPr lang="es-CO"/>
          </a:p>
        </p:txBody>
      </p:sp>
    </p:spTree>
    <p:extLst>
      <p:ext uri="{BB962C8B-B14F-4D97-AF65-F5344CB8AC3E}">
        <p14:creationId xmlns:p14="http://schemas.microsoft.com/office/powerpoint/2010/main" val="1221274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8B38FB2-79C0-E8EE-BDFE-7E0B095289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B7388900-C056-371A-F34C-5E3FD4B190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C6339FCE-C326-D7C6-0A86-D7D1054C65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448B1F-04D8-AC48-AFC3-8CB37CE905F2}" type="datetimeFigureOut">
              <a:rPr lang="es-CO" smtClean="0"/>
              <a:t>27/11/25</a:t>
            </a:fld>
            <a:endParaRPr lang="es-CO"/>
          </a:p>
        </p:txBody>
      </p:sp>
      <p:sp>
        <p:nvSpPr>
          <p:cNvPr id="5" name="Marcador de pie de página 4">
            <a:extLst>
              <a:ext uri="{FF2B5EF4-FFF2-40B4-BE49-F238E27FC236}">
                <a16:creationId xmlns:a16="http://schemas.microsoft.com/office/drawing/2014/main" id="{8F259499-3285-CDF0-B697-64DD612BAD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CC666E7A-62D7-F96E-50E7-DD2DF23651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A6CDFC-C0B4-994B-A54D-2B4CDB11002E}" type="slidenum">
              <a:rPr lang="es-CO" smtClean="0"/>
              <a:t>‹Nº›</a:t>
            </a:fld>
            <a:endParaRPr lang="es-CO"/>
          </a:p>
        </p:txBody>
      </p:sp>
    </p:spTree>
    <p:extLst>
      <p:ext uri="{BB962C8B-B14F-4D97-AF65-F5344CB8AC3E}">
        <p14:creationId xmlns:p14="http://schemas.microsoft.com/office/powerpoint/2010/main" val="3725838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9D40FE-B43F-7B8A-C608-FD0BD5E31AA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CDA81E9-47DD-B035-E8FF-FB5DF3EA76B8}"/>
              </a:ext>
            </a:extLst>
          </p:cNvPr>
          <p:cNvPicPr>
            <a:picLocks noChangeAspect="1"/>
          </p:cNvPicPr>
          <p:nvPr/>
        </p:nvPicPr>
        <p:blipFill>
          <a:blip r:embed="rId2"/>
          <a:stretch>
            <a:fillRect/>
          </a:stretch>
        </p:blipFill>
        <p:spPr>
          <a:xfrm>
            <a:off x="0" y="0"/>
            <a:ext cx="12191999" cy="6858001"/>
          </a:xfrm>
          <a:prstGeom prst="rect">
            <a:avLst/>
          </a:prstGeom>
          <a:ln>
            <a:noFill/>
          </a:ln>
        </p:spPr>
      </p:pic>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a:extLst>
              <a:ext uri="{FF2B5EF4-FFF2-40B4-BE49-F238E27FC236}">
                <a16:creationId xmlns:a16="http://schemas.microsoft.com/office/drawing/2014/main" id="{BB61B7FF-E82D-2E82-2617-21CD6A4EBBFB}"/>
              </a:ext>
            </a:extLst>
          </p:cNvPr>
          <p:cNvPicPr>
            <a:picLocks noChangeAspect="1"/>
          </p:cNvPicPr>
          <p:nvPr/>
        </p:nvPicPr>
        <p:blipFill>
          <a:blip r:embed="rId2"/>
          <a:stretch>
            <a:fillRect/>
          </a:stretch>
        </p:blipFill>
        <p:spPr>
          <a:xfrm>
            <a:off x="0" y="0"/>
            <a:ext cx="12191999" cy="6858001"/>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874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D75CF19-6A38-A926-6225-03B484C2F6B2}"/>
              </a:ext>
            </a:extLst>
          </p:cNvPr>
          <p:cNvPicPr>
            <a:picLocks noChangeAspect="1"/>
          </p:cNvPicPr>
          <p:nvPr/>
        </p:nvPicPr>
        <p:blipFill>
          <a:blip r:embed="rId2"/>
          <a:stretch>
            <a:fillRect/>
          </a:stretch>
        </p:blipFill>
        <p:spPr>
          <a:xfrm>
            <a:off x="0" y="294290"/>
            <a:ext cx="12192000" cy="6857429"/>
          </a:xfrm>
          <a:prstGeom prst="rect">
            <a:avLst/>
          </a:prstGeom>
        </p:spPr>
      </p:pic>
      <p:sp>
        <p:nvSpPr>
          <p:cNvPr id="3" name="CuadroTexto 2">
            <a:extLst>
              <a:ext uri="{FF2B5EF4-FFF2-40B4-BE49-F238E27FC236}">
                <a16:creationId xmlns:a16="http://schemas.microsoft.com/office/drawing/2014/main" id="{61CB08BB-3A95-8EF2-75D0-2EAB2C028361}"/>
              </a:ext>
            </a:extLst>
          </p:cNvPr>
          <p:cNvSpPr txBox="1"/>
          <p:nvPr/>
        </p:nvSpPr>
        <p:spPr>
          <a:xfrm>
            <a:off x="5756365" y="3926003"/>
            <a:ext cx="5056094" cy="718979"/>
          </a:xfrm>
          <a:prstGeom prst="rect">
            <a:avLst/>
          </a:prstGeom>
          <a:noFill/>
        </p:spPr>
        <p:txBody>
          <a:bodyPr wrap="square">
            <a:spAutoFit/>
          </a:bodyPr>
          <a:lstStyle/>
          <a:p>
            <a:pPr>
              <a:lnSpc>
                <a:spcPct val="115000"/>
              </a:lnSpc>
              <a:spcAft>
                <a:spcPts val="800"/>
              </a:spcAft>
            </a:pPr>
            <a:r>
              <a:rPr lang="es-CO" sz="1200" kern="100" dirty="0">
                <a:effectLst/>
                <a:latin typeface="Aptos" panose="020B0004020202020204" pitchFamily="34" charset="0"/>
                <a:ea typeface="DengXian" panose="02010600030101010101" pitchFamily="2" charset="-122"/>
                <a:cs typeface="Times New Roman" panose="02020603050405020304" pitchFamily="18" charset="0"/>
              </a:rPr>
              <a:t>¿cómo predecir de manera temprana la probabilidad de insolvencia o quiebra de estas empresas a partir de su información financiera disponible?</a:t>
            </a:r>
          </a:p>
        </p:txBody>
      </p:sp>
    </p:spTree>
    <p:extLst>
      <p:ext uri="{BB962C8B-B14F-4D97-AF65-F5344CB8AC3E}">
        <p14:creationId xmlns:p14="http://schemas.microsoft.com/office/powerpoint/2010/main" val="3040088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BC09-4031-59A3-0A48-9EDF17FEE3B2}"/>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EF53A168-D54C-A910-FFE1-537E0DE67C70}"/>
              </a:ext>
            </a:extLst>
          </p:cNvPr>
          <p:cNvGrpSpPr/>
          <p:nvPr/>
        </p:nvGrpSpPr>
        <p:grpSpPr>
          <a:xfrm>
            <a:off x="-1" y="21026"/>
            <a:ext cx="12192000" cy="6836974"/>
            <a:chOff x="0" y="0"/>
            <a:chExt cx="12192000" cy="6836974"/>
          </a:xfrm>
        </p:grpSpPr>
        <p:pic>
          <p:nvPicPr>
            <p:cNvPr id="2" name="Imagen 1">
              <a:extLst>
                <a:ext uri="{FF2B5EF4-FFF2-40B4-BE49-F238E27FC236}">
                  <a16:creationId xmlns:a16="http://schemas.microsoft.com/office/drawing/2014/main" id="{88314D2F-D1F9-EB37-622C-AB5E1058C3B0}"/>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AED72C72-A46A-DC63-1C7D-4637D98E8EC8}"/>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DE4C0FC4-323D-4FE8-EF30-158F8A86AD1D}"/>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C6C00E86-2129-9FE5-E9A9-012C15C0F220}"/>
              </a:ext>
            </a:extLst>
          </p:cNvPr>
          <p:cNvSpPr txBox="1"/>
          <p:nvPr/>
        </p:nvSpPr>
        <p:spPr>
          <a:xfrm>
            <a:off x="356506" y="448332"/>
            <a:ext cx="5739493"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IMPORTACIÓN DE DATOS</a:t>
            </a:r>
          </a:p>
        </p:txBody>
      </p:sp>
      <p:sp>
        <p:nvSpPr>
          <p:cNvPr id="9" name="CuadroTexto 8">
            <a:extLst>
              <a:ext uri="{FF2B5EF4-FFF2-40B4-BE49-F238E27FC236}">
                <a16:creationId xmlns:a16="http://schemas.microsoft.com/office/drawing/2014/main" id="{BB17224E-6EA2-E793-E190-854DD705E5A0}"/>
              </a:ext>
            </a:extLst>
          </p:cNvPr>
          <p:cNvSpPr txBox="1"/>
          <p:nvPr/>
        </p:nvSpPr>
        <p:spPr>
          <a:xfrm>
            <a:off x="350520" y="2856683"/>
            <a:ext cx="4412797" cy="2308324"/>
          </a:xfrm>
          <a:prstGeom prst="rect">
            <a:avLst/>
          </a:prstGeom>
          <a:noFill/>
        </p:spPr>
        <p:txBody>
          <a:bodyPr wrap="square">
            <a:spAutoFit/>
          </a:bodyPr>
          <a:lstStyle/>
          <a:p>
            <a:r>
              <a:rPr lang="es-CO" dirty="0">
                <a:latin typeface="ADLaM Display" panose="02010000000000000000" pitchFamily="2" charset="77"/>
                <a:ea typeface="ADLaM Display" panose="02010000000000000000" pitchFamily="2" charset="77"/>
                <a:cs typeface="ADLaM Display" panose="02010000000000000000" pitchFamily="2" charset="77"/>
              </a:rPr>
              <a:t>-Se cargaron las bases de </a:t>
            </a:r>
            <a:r>
              <a:rPr lang="es-CO" b="1" dirty="0">
                <a:latin typeface="ADLaM Display" panose="02010000000000000000" pitchFamily="2" charset="77"/>
                <a:ea typeface="ADLaM Display" panose="02010000000000000000" pitchFamily="2" charset="77"/>
                <a:cs typeface="ADLaM Display" panose="02010000000000000000" pitchFamily="2" charset="77"/>
              </a:rPr>
              <a:t>1000 y 9000 empresas</a:t>
            </a:r>
            <a:r>
              <a:rPr lang="es-CO" dirty="0">
                <a:latin typeface="ADLaM Display" panose="02010000000000000000" pitchFamily="2" charset="77"/>
                <a:ea typeface="ADLaM Display" panose="02010000000000000000" pitchFamily="2" charset="77"/>
                <a:cs typeface="ADLaM Display" panose="02010000000000000000" pitchFamily="2" charset="77"/>
              </a:rPr>
              <a:t>.</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dirty="0">
                <a:latin typeface="ADLaM Display" panose="02010000000000000000" pitchFamily="2" charset="77"/>
                <a:ea typeface="ADLaM Display" panose="02010000000000000000" pitchFamily="2" charset="77"/>
                <a:cs typeface="ADLaM Display" panose="02010000000000000000" pitchFamily="2" charset="77"/>
              </a:rPr>
              <a:t>-Se unieron en un solo dataset de </a:t>
            </a:r>
            <a:r>
              <a:rPr lang="es-CO" b="1" dirty="0">
                <a:latin typeface="ADLaM Display" panose="02010000000000000000" pitchFamily="2" charset="77"/>
                <a:ea typeface="ADLaM Display" panose="02010000000000000000" pitchFamily="2" charset="77"/>
                <a:cs typeface="ADLaM Display" panose="02010000000000000000" pitchFamily="2" charset="77"/>
              </a:rPr>
              <a:t>10.000 empresas</a:t>
            </a:r>
            <a:r>
              <a:rPr lang="es-CO" dirty="0">
                <a:latin typeface="ADLaM Display" panose="02010000000000000000" pitchFamily="2" charset="77"/>
                <a:ea typeface="ADLaM Display" panose="02010000000000000000" pitchFamily="2" charset="77"/>
                <a:cs typeface="ADLaM Display" panose="02010000000000000000" pitchFamily="2" charset="77"/>
              </a:rPr>
              <a:t>.</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dirty="0">
                <a:latin typeface="ADLaM Display" panose="02010000000000000000" pitchFamily="2" charset="77"/>
                <a:ea typeface="ADLaM Display" panose="02010000000000000000" pitchFamily="2" charset="77"/>
                <a:cs typeface="ADLaM Display" panose="02010000000000000000" pitchFamily="2" charset="77"/>
              </a:rPr>
              <a:t>-Dimensiones de la tabla (10.000 x 20)</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p:txBody>
      </p:sp>
      <p:pic>
        <p:nvPicPr>
          <p:cNvPr id="11" name="Imagen 10">
            <a:extLst>
              <a:ext uri="{FF2B5EF4-FFF2-40B4-BE49-F238E27FC236}">
                <a16:creationId xmlns:a16="http://schemas.microsoft.com/office/drawing/2014/main" id="{946290CC-8910-1785-8340-FEAD48231388}"/>
              </a:ext>
            </a:extLst>
          </p:cNvPr>
          <p:cNvPicPr>
            <a:picLocks noChangeAspect="1"/>
          </p:cNvPicPr>
          <p:nvPr/>
        </p:nvPicPr>
        <p:blipFill>
          <a:blip r:embed="rId3"/>
          <a:stretch>
            <a:fillRect/>
          </a:stretch>
        </p:blipFill>
        <p:spPr>
          <a:xfrm>
            <a:off x="5377314" y="1922901"/>
            <a:ext cx="6031959" cy="3955383"/>
          </a:xfrm>
          <a:prstGeom prst="rect">
            <a:avLst/>
          </a:prstGeom>
        </p:spPr>
      </p:pic>
    </p:spTree>
    <p:extLst>
      <p:ext uri="{BB962C8B-B14F-4D97-AF65-F5344CB8AC3E}">
        <p14:creationId xmlns:p14="http://schemas.microsoft.com/office/powerpoint/2010/main" val="2194172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A4E2F-02BE-491A-BC2E-521142C9EBB7}"/>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73430E3C-5B20-389E-57B1-765FCED549AF}"/>
              </a:ext>
            </a:extLst>
          </p:cNvPr>
          <p:cNvGrpSpPr/>
          <p:nvPr/>
        </p:nvGrpSpPr>
        <p:grpSpPr>
          <a:xfrm>
            <a:off x="-1" y="21026"/>
            <a:ext cx="12192000" cy="6836974"/>
            <a:chOff x="0" y="0"/>
            <a:chExt cx="12192000" cy="6836974"/>
          </a:xfrm>
        </p:grpSpPr>
        <p:pic>
          <p:nvPicPr>
            <p:cNvPr id="2" name="Imagen 1">
              <a:extLst>
                <a:ext uri="{FF2B5EF4-FFF2-40B4-BE49-F238E27FC236}">
                  <a16:creationId xmlns:a16="http://schemas.microsoft.com/office/drawing/2014/main" id="{97FF775C-5F4F-89BD-666F-A8C0CD2DA8C3}"/>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71573919-040F-A148-4E2B-66E4DEF380C8}"/>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EC7222BC-B6EA-D19E-574B-3727D809B32E}"/>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674D9EA0-AA09-F7C1-BAE0-03121B9E061B}"/>
              </a:ext>
            </a:extLst>
          </p:cNvPr>
          <p:cNvSpPr txBox="1"/>
          <p:nvPr/>
        </p:nvSpPr>
        <p:spPr>
          <a:xfrm>
            <a:off x="273274" y="486514"/>
            <a:ext cx="10208080"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PREPARACIÓN, UNIÓN Y LIMPIEZA DE DATOS</a:t>
            </a:r>
          </a:p>
        </p:txBody>
      </p:sp>
      <p:pic>
        <p:nvPicPr>
          <p:cNvPr id="12" name="Imagen 11">
            <a:extLst>
              <a:ext uri="{FF2B5EF4-FFF2-40B4-BE49-F238E27FC236}">
                <a16:creationId xmlns:a16="http://schemas.microsoft.com/office/drawing/2014/main" id="{AB0BE439-9D72-8845-4388-72C4C401C293}"/>
              </a:ext>
            </a:extLst>
          </p:cNvPr>
          <p:cNvPicPr>
            <a:picLocks noChangeAspect="1"/>
          </p:cNvPicPr>
          <p:nvPr/>
        </p:nvPicPr>
        <p:blipFill>
          <a:blip r:embed="rId3"/>
          <a:stretch>
            <a:fillRect/>
          </a:stretch>
        </p:blipFill>
        <p:spPr>
          <a:xfrm>
            <a:off x="1184767" y="1981165"/>
            <a:ext cx="9787084" cy="3766457"/>
          </a:xfrm>
          <a:prstGeom prst="rect">
            <a:avLst/>
          </a:prstGeom>
        </p:spPr>
      </p:pic>
      <p:pic>
        <p:nvPicPr>
          <p:cNvPr id="10" name="Imagen 9">
            <a:extLst>
              <a:ext uri="{FF2B5EF4-FFF2-40B4-BE49-F238E27FC236}">
                <a16:creationId xmlns:a16="http://schemas.microsoft.com/office/drawing/2014/main" id="{C11626E3-4FF2-695B-55B7-2891355ABB3B}"/>
              </a:ext>
            </a:extLst>
          </p:cNvPr>
          <p:cNvPicPr>
            <a:picLocks noChangeAspect="1"/>
          </p:cNvPicPr>
          <p:nvPr/>
        </p:nvPicPr>
        <p:blipFill>
          <a:blip r:embed="rId4"/>
          <a:stretch>
            <a:fillRect/>
          </a:stretch>
        </p:blipFill>
        <p:spPr>
          <a:xfrm>
            <a:off x="5294533" y="5161976"/>
            <a:ext cx="6693358" cy="1484569"/>
          </a:xfrm>
          <a:prstGeom prst="rect">
            <a:avLst/>
          </a:prstGeom>
        </p:spPr>
      </p:pic>
    </p:spTree>
    <p:extLst>
      <p:ext uri="{BB962C8B-B14F-4D97-AF65-F5344CB8AC3E}">
        <p14:creationId xmlns:p14="http://schemas.microsoft.com/office/powerpoint/2010/main" val="2861938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84050-BFCF-38D9-69F2-6BEB0A6B603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929E974-890B-9A42-B986-EFF48C37678F}"/>
              </a:ext>
            </a:extLst>
          </p:cNvPr>
          <p:cNvSpPr txBox="1"/>
          <p:nvPr/>
        </p:nvSpPr>
        <p:spPr>
          <a:xfrm>
            <a:off x="-510268" y="2525876"/>
            <a:ext cx="6098720" cy="369332"/>
          </a:xfrm>
          <a:prstGeom prst="rect">
            <a:avLst/>
          </a:prstGeom>
          <a:noFill/>
        </p:spPr>
        <p:txBody>
          <a:bodyPr wrap="square">
            <a:spAutoFit/>
          </a:bodyPr>
          <a:lstStyle/>
          <a:p>
            <a:pPr algn="ctr"/>
            <a:r>
              <a:rPr lang="es-CO" dirty="0">
                <a:latin typeface="ADLaM Display" panose="020F0502020204030204" pitchFamily="34" charset="0"/>
                <a:cs typeface="ADLaM Display" panose="020F0502020204030204" pitchFamily="34" charset="0"/>
              </a:rPr>
              <a:t>CREACIÓN DE RATIOS FINANCIEROS</a:t>
            </a:r>
          </a:p>
        </p:txBody>
      </p:sp>
      <p:grpSp>
        <p:nvGrpSpPr>
          <p:cNvPr id="9" name="Grupo 8">
            <a:extLst>
              <a:ext uri="{FF2B5EF4-FFF2-40B4-BE49-F238E27FC236}">
                <a16:creationId xmlns:a16="http://schemas.microsoft.com/office/drawing/2014/main" id="{61B0621F-050D-D796-1CF2-897A2762FB56}"/>
              </a:ext>
            </a:extLst>
          </p:cNvPr>
          <p:cNvGrpSpPr/>
          <p:nvPr/>
        </p:nvGrpSpPr>
        <p:grpSpPr>
          <a:xfrm>
            <a:off x="0" y="11934"/>
            <a:ext cx="12192000" cy="6846066"/>
            <a:chOff x="-172810" y="11934"/>
            <a:chExt cx="12192000" cy="6846066"/>
          </a:xfrm>
        </p:grpSpPr>
        <p:pic>
          <p:nvPicPr>
            <p:cNvPr id="3" name="Imagen 2">
              <a:extLst>
                <a:ext uri="{FF2B5EF4-FFF2-40B4-BE49-F238E27FC236}">
                  <a16:creationId xmlns:a16="http://schemas.microsoft.com/office/drawing/2014/main" id="{EE6F2B7C-461A-DBE5-AA17-FC0683F49EEA}"/>
                </a:ext>
              </a:extLst>
            </p:cNvPr>
            <p:cNvPicPr>
              <a:picLocks noChangeAspect="1"/>
            </p:cNvPicPr>
            <p:nvPr/>
          </p:nvPicPr>
          <p:blipFill>
            <a:blip r:embed="rId2"/>
            <a:stretch>
              <a:fillRect/>
            </a:stretch>
          </p:blipFill>
          <p:spPr>
            <a:xfrm>
              <a:off x="-172810" y="11934"/>
              <a:ext cx="12192000" cy="6846066"/>
            </a:xfrm>
            <a:prstGeom prst="rect">
              <a:avLst/>
            </a:prstGeom>
          </p:spPr>
        </p:pic>
        <p:sp>
          <p:nvSpPr>
            <p:cNvPr id="5" name="Rectángulo 4">
              <a:extLst>
                <a:ext uri="{FF2B5EF4-FFF2-40B4-BE49-F238E27FC236}">
                  <a16:creationId xmlns:a16="http://schemas.microsoft.com/office/drawing/2014/main" id="{7DD74407-D777-3639-9FD4-DA7F5D9FD0BE}"/>
                </a:ext>
              </a:extLst>
            </p:cNvPr>
            <p:cNvSpPr/>
            <p:nvPr/>
          </p:nvSpPr>
          <p:spPr>
            <a:xfrm>
              <a:off x="0" y="228787"/>
              <a:ext cx="4889047" cy="1698046"/>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8B0F0FE6-B5AE-4942-8AB0-284323192C44}"/>
                </a:ext>
              </a:extLst>
            </p:cNvPr>
            <p:cNvSpPr/>
            <p:nvPr/>
          </p:nvSpPr>
          <p:spPr>
            <a:xfrm>
              <a:off x="6580412" y="887835"/>
              <a:ext cx="3445331" cy="1469446"/>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7" name="Rectángulo 6">
              <a:extLst>
                <a:ext uri="{FF2B5EF4-FFF2-40B4-BE49-F238E27FC236}">
                  <a16:creationId xmlns:a16="http://schemas.microsoft.com/office/drawing/2014/main" id="{633F72F2-B356-8B84-FED8-EB066BFF152F}"/>
                </a:ext>
              </a:extLst>
            </p:cNvPr>
            <p:cNvSpPr/>
            <p:nvPr/>
          </p:nvSpPr>
          <p:spPr>
            <a:xfrm>
              <a:off x="4136569" y="3233182"/>
              <a:ext cx="3897088" cy="1469446"/>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5E5EA6D0-A449-E1D5-9864-1E15FCE53F87}"/>
                </a:ext>
              </a:extLst>
            </p:cNvPr>
            <p:cNvSpPr/>
            <p:nvPr/>
          </p:nvSpPr>
          <p:spPr>
            <a:xfrm>
              <a:off x="3592283" y="5082831"/>
              <a:ext cx="3314701" cy="1469446"/>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 name="CuadroTexto 10">
            <a:extLst>
              <a:ext uri="{FF2B5EF4-FFF2-40B4-BE49-F238E27FC236}">
                <a16:creationId xmlns:a16="http://schemas.microsoft.com/office/drawing/2014/main" id="{F396F380-F516-88DF-F2F0-99A34C9AF180}"/>
              </a:ext>
            </a:extLst>
          </p:cNvPr>
          <p:cNvSpPr txBox="1"/>
          <p:nvPr/>
        </p:nvSpPr>
        <p:spPr>
          <a:xfrm>
            <a:off x="336096" y="292980"/>
            <a:ext cx="3314701" cy="1569660"/>
          </a:xfrm>
          <a:prstGeom prst="rect">
            <a:avLst/>
          </a:prstGeom>
          <a:noFill/>
        </p:spPr>
        <p:txBody>
          <a:bodyPr wrap="square">
            <a:spAutoFit/>
          </a:bodyPr>
          <a:lstStyle/>
          <a:p>
            <a:pPr algn="ctr"/>
            <a:r>
              <a:rPr lang="es-CO" sz="3200" dirty="0">
                <a:latin typeface="ADLaM Display" panose="020F0502020204030204" pitchFamily="34" charset="0"/>
                <a:cs typeface="ADLaM Display" panose="020F0502020204030204" pitchFamily="34" charset="0"/>
              </a:rPr>
              <a:t>CREACIÓN DE RATIOS FINANCIEROS</a:t>
            </a:r>
          </a:p>
        </p:txBody>
      </p:sp>
      <p:sp>
        <p:nvSpPr>
          <p:cNvPr id="14" name="CuadroTexto 13">
            <a:extLst>
              <a:ext uri="{FF2B5EF4-FFF2-40B4-BE49-F238E27FC236}">
                <a16:creationId xmlns:a16="http://schemas.microsoft.com/office/drawing/2014/main" id="{F6E83D26-112A-2316-47F8-E0D8F58D8099}"/>
              </a:ext>
            </a:extLst>
          </p:cNvPr>
          <p:cNvSpPr txBox="1"/>
          <p:nvPr/>
        </p:nvSpPr>
        <p:spPr>
          <a:xfrm>
            <a:off x="334052" y="2270586"/>
            <a:ext cx="6351814" cy="4247317"/>
          </a:xfrm>
          <a:prstGeom prst="rect">
            <a:avLst/>
          </a:prstGeom>
          <a:noFill/>
        </p:spPr>
        <p:txBody>
          <a:bodyPr wrap="square">
            <a:spAutoFit/>
          </a:bodyPr>
          <a:lstStyle/>
          <a:p>
            <a:r>
              <a:rPr lang="es-CO" b="1" dirty="0">
                <a:latin typeface="ADLaM Display" panose="02010000000000000000" pitchFamily="2" charset="77"/>
                <a:ea typeface="ADLaM Display" panose="02010000000000000000" pitchFamily="2" charset="77"/>
                <a:cs typeface="ADLaM Display" panose="02010000000000000000" pitchFamily="2" charset="77"/>
              </a:rPr>
              <a:t>Liquidez General</a:t>
            </a:r>
            <a:r>
              <a:rPr lang="es-CO" dirty="0">
                <a:latin typeface="ADLaM Display" panose="02010000000000000000" pitchFamily="2" charset="77"/>
                <a:ea typeface="ADLaM Display" panose="02010000000000000000" pitchFamily="2" charset="77"/>
                <a:cs typeface="ADLaM Display" panose="02010000000000000000" pitchFamily="2" charset="77"/>
              </a:rPr>
              <a:t> = Activos / Pasivos</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Apalancamiento</a:t>
            </a:r>
            <a:r>
              <a:rPr lang="es-CO" dirty="0">
                <a:latin typeface="ADLaM Display" panose="02010000000000000000" pitchFamily="2" charset="77"/>
                <a:ea typeface="ADLaM Display" panose="02010000000000000000" pitchFamily="2" charset="77"/>
                <a:cs typeface="ADLaM Display" panose="02010000000000000000" pitchFamily="2" charset="77"/>
              </a:rPr>
              <a:t> = Pasivos / Activos</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Razón de Endeudamiento</a:t>
            </a:r>
            <a:r>
              <a:rPr lang="es-CO" dirty="0">
                <a:latin typeface="ADLaM Display" panose="02010000000000000000" pitchFamily="2" charset="77"/>
                <a:ea typeface="ADLaM Display" panose="02010000000000000000" pitchFamily="2" charset="77"/>
                <a:cs typeface="ADLaM Display" panose="02010000000000000000" pitchFamily="2" charset="77"/>
              </a:rPr>
              <a:t> = Pasivos / Patrimonio</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Autonomía Financiera</a:t>
            </a:r>
            <a:r>
              <a:rPr lang="es-CO" dirty="0">
                <a:latin typeface="ADLaM Display" panose="02010000000000000000" pitchFamily="2" charset="77"/>
                <a:ea typeface="ADLaM Display" panose="02010000000000000000" pitchFamily="2" charset="77"/>
                <a:cs typeface="ADLaM Display" panose="02010000000000000000" pitchFamily="2" charset="77"/>
              </a:rPr>
              <a:t> = Patrimonio / Activos</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ROA</a:t>
            </a:r>
            <a:r>
              <a:rPr lang="es-CO" dirty="0">
                <a:latin typeface="ADLaM Display" panose="02010000000000000000" pitchFamily="2" charset="77"/>
                <a:ea typeface="ADLaM Display" panose="02010000000000000000" pitchFamily="2" charset="77"/>
                <a:cs typeface="ADLaM Display" panose="02010000000000000000" pitchFamily="2" charset="77"/>
              </a:rPr>
              <a:t> = Utilidad / Activos</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ROE</a:t>
            </a:r>
            <a:r>
              <a:rPr lang="es-CO" dirty="0">
                <a:latin typeface="ADLaM Display" panose="02010000000000000000" pitchFamily="2" charset="77"/>
                <a:ea typeface="ADLaM Display" panose="02010000000000000000" pitchFamily="2" charset="77"/>
                <a:cs typeface="ADLaM Display" panose="02010000000000000000" pitchFamily="2" charset="77"/>
              </a:rPr>
              <a:t> = Utilidad / Patrimonio</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Margen Neto</a:t>
            </a:r>
            <a:r>
              <a:rPr lang="es-CO" dirty="0">
                <a:latin typeface="ADLaM Display" panose="02010000000000000000" pitchFamily="2" charset="77"/>
                <a:ea typeface="ADLaM Display" panose="02010000000000000000" pitchFamily="2" charset="77"/>
                <a:cs typeface="ADLaM Display" panose="02010000000000000000" pitchFamily="2" charset="77"/>
              </a:rPr>
              <a:t> = Utilidad / Ingresos</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b="1" dirty="0">
                <a:latin typeface="ADLaM Display" panose="02010000000000000000" pitchFamily="2" charset="77"/>
                <a:ea typeface="ADLaM Display" panose="02010000000000000000" pitchFamily="2" charset="77"/>
                <a:cs typeface="ADLaM Display" panose="02010000000000000000" pitchFamily="2" charset="77"/>
              </a:rPr>
              <a:t>Rotación de Activos</a:t>
            </a:r>
            <a:r>
              <a:rPr lang="es-CO" dirty="0">
                <a:latin typeface="ADLaM Display" panose="02010000000000000000" pitchFamily="2" charset="77"/>
                <a:ea typeface="ADLaM Display" panose="02010000000000000000" pitchFamily="2" charset="77"/>
                <a:cs typeface="ADLaM Display" panose="02010000000000000000" pitchFamily="2" charset="77"/>
              </a:rPr>
              <a:t> = Ingresos / Activos</a:t>
            </a:r>
          </a:p>
        </p:txBody>
      </p:sp>
      <p:sp>
        <p:nvSpPr>
          <p:cNvPr id="16" name="CuadroTexto 15">
            <a:extLst>
              <a:ext uri="{FF2B5EF4-FFF2-40B4-BE49-F238E27FC236}">
                <a16:creationId xmlns:a16="http://schemas.microsoft.com/office/drawing/2014/main" id="{DF811AE5-6FF6-CA5A-D833-C2EDA17D87D6}"/>
              </a:ext>
            </a:extLst>
          </p:cNvPr>
          <p:cNvSpPr txBox="1"/>
          <p:nvPr/>
        </p:nvSpPr>
        <p:spPr>
          <a:xfrm>
            <a:off x="4760453" y="2222164"/>
            <a:ext cx="3039161" cy="461665"/>
          </a:xfrm>
          <a:prstGeom prst="rect">
            <a:avLst/>
          </a:prstGeom>
          <a:noFill/>
        </p:spPr>
        <p:txBody>
          <a:bodyPr wrap="square">
            <a:spAutoFit/>
          </a:bodyPr>
          <a:lstStyle/>
          <a:p>
            <a:r>
              <a:rPr lang="es-CO" sz="1200" dirty="0"/>
              <a:t>Mide la capacidad de la empresa para pagar sus deudas de corto plazo.</a:t>
            </a:r>
          </a:p>
        </p:txBody>
      </p:sp>
      <p:sp>
        <p:nvSpPr>
          <p:cNvPr id="18" name="CuadroTexto 17">
            <a:extLst>
              <a:ext uri="{FF2B5EF4-FFF2-40B4-BE49-F238E27FC236}">
                <a16:creationId xmlns:a16="http://schemas.microsoft.com/office/drawing/2014/main" id="{35C61A20-321A-C083-7C20-61B50839F9AF}"/>
              </a:ext>
            </a:extLst>
          </p:cNvPr>
          <p:cNvSpPr txBox="1"/>
          <p:nvPr/>
        </p:nvSpPr>
        <p:spPr>
          <a:xfrm>
            <a:off x="4748548" y="2776550"/>
            <a:ext cx="2668364" cy="461665"/>
          </a:xfrm>
          <a:prstGeom prst="rect">
            <a:avLst/>
          </a:prstGeom>
          <a:noFill/>
        </p:spPr>
        <p:txBody>
          <a:bodyPr wrap="square">
            <a:spAutoFit/>
          </a:bodyPr>
          <a:lstStyle/>
          <a:p>
            <a:r>
              <a:rPr lang="es-CO" sz="1200" dirty="0"/>
              <a:t>Muestra qué proporción de los activos está financiada con deuda.</a:t>
            </a:r>
          </a:p>
        </p:txBody>
      </p:sp>
      <p:sp>
        <p:nvSpPr>
          <p:cNvPr id="20" name="CuadroTexto 19">
            <a:extLst>
              <a:ext uri="{FF2B5EF4-FFF2-40B4-BE49-F238E27FC236}">
                <a16:creationId xmlns:a16="http://schemas.microsoft.com/office/drawing/2014/main" id="{AC65EB1F-C6DA-A428-5FCB-C24A91592876}"/>
              </a:ext>
            </a:extLst>
          </p:cNvPr>
          <p:cNvSpPr txBox="1"/>
          <p:nvPr/>
        </p:nvSpPr>
        <p:spPr>
          <a:xfrm>
            <a:off x="5888318" y="3345356"/>
            <a:ext cx="3057188" cy="461665"/>
          </a:xfrm>
          <a:prstGeom prst="rect">
            <a:avLst/>
          </a:prstGeom>
          <a:noFill/>
        </p:spPr>
        <p:txBody>
          <a:bodyPr wrap="square">
            <a:spAutoFit/>
          </a:bodyPr>
          <a:lstStyle/>
          <a:p>
            <a:r>
              <a:rPr lang="es-CO" sz="1200" dirty="0"/>
              <a:t>Indica qué tan endeudada está la empresa respecto a sus recursos propios.</a:t>
            </a:r>
          </a:p>
        </p:txBody>
      </p:sp>
      <p:sp>
        <p:nvSpPr>
          <p:cNvPr id="22" name="CuadroTexto 21">
            <a:extLst>
              <a:ext uri="{FF2B5EF4-FFF2-40B4-BE49-F238E27FC236}">
                <a16:creationId xmlns:a16="http://schemas.microsoft.com/office/drawing/2014/main" id="{2754807E-75CF-BE1F-6012-42A37EDB661D}"/>
              </a:ext>
            </a:extLst>
          </p:cNvPr>
          <p:cNvSpPr txBox="1"/>
          <p:nvPr/>
        </p:nvSpPr>
        <p:spPr>
          <a:xfrm>
            <a:off x="5522795" y="3868323"/>
            <a:ext cx="3057188" cy="470354"/>
          </a:xfrm>
          <a:prstGeom prst="rect">
            <a:avLst/>
          </a:prstGeom>
          <a:noFill/>
        </p:spPr>
        <p:txBody>
          <a:bodyPr wrap="square">
            <a:spAutoFit/>
          </a:bodyPr>
          <a:lstStyle/>
          <a:p>
            <a:r>
              <a:rPr lang="es-CO" sz="1200" dirty="0"/>
              <a:t>Refleja la independencia financiera; qué tanto depende de sus propios recursos.</a:t>
            </a:r>
          </a:p>
        </p:txBody>
      </p:sp>
      <p:sp>
        <p:nvSpPr>
          <p:cNvPr id="24" name="CuadroTexto 23">
            <a:extLst>
              <a:ext uri="{FF2B5EF4-FFF2-40B4-BE49-F238E27FC236}">
                <a16:creationId xmlns:a16="http://schemas.microsoft.com/office/drawing/2014/main" id="{DF1C806D-B1EC-1DB0-60C9-0DF01C38FB73}"/>
              </a:ext>
            </a:extLst>
          </p:cNvPr>
          <p:cNvSpPr txBox="1"/>
          <p:nvPr/>
        </p:nvSpPr>
        <p:spPr>
          <a:xfrm>
            <a:off x="3207883" y="4450156"/>
            <a:ext cx="2874847" cy="461665"/>
          </a:xfrm>
          <a:prstGeom prst="rect">
            <a:avLst/>
          </a:prstGeom>
          <a:noFill/>
        </p:spPr>
        <p:txBody>
          <a:bodyPr wrap="square">
            <a:spAutoFit/>
          </a:bodyPr>
          <a:lstStyle/>
          <a:p>
            <a:r>
              <a:rPr lang="es-CO" sz="1200" dirty="0"/>
              <a:t>Mide la rentabilidad que generan los activos de la empresa.</a:t>
            </a:r>
          </a:p>
        </p:txBody>
      </p:sp>
      <p:sp>
        <p:nvSpPr>
          <p:cNvPr id="26" name="CuadroTexto 25">
            <a:extLst>
              <a:ext uri="{FF2B5EF4-FFF2-40B4-BE49-F238E27FC236}">
                <a16:creationId xmlns:a16="http://schemas.microsoft.com/office/drawing/2014/main" id="{ED804628-E661-1086-03E6-10A9FBC7334B}"/>
              </a:ext>
            </a:extLst>
          </p:cNvPr>
          <p:cNvSpPr txBox="1"/>
          <p:nvPr/>
        </p:nvSpPr>
        <p:spPr>
          <a:xfrm>
            <a:off x="3549763" y="5007919"/>
            <a:ext cx="3024188" cy="461665"/>
          </a:xfrm>
          <a:prstGeom prst="rect">
            <a:avLst/>
          </a:prstGeom>
          <a:noFill/>
        </p:spPr>
        <p:txBody>
          <a:bodyPr wrap="square">
            <a:spAutoFit/>
          </a:bodyPr>
          <a:lstStyle/>
          <a:p>
            <a:r>
              <a:rPr lang="es-CO" sz="1200" dirty="0"/>
              <a:t>Indica la rentabilidad para los accionistas o dueños.</a:t>
            </a:r>
          </a:p>
        </p:txBody>
      </p:sp>
      <p:sp>
        <p:nvSpPr>
          <p:cNvPr id="28" name="CuadroTexto 27">
            <a:extLst>
              <a:ext uri="{FF2B5EF4-FFF2-40B4-BE49-F238E27FC236}">
                <a16:creationId xmlns:a16="http://schemas.microsoft.com/office/drawing/2014/main" id="{BB2B2F47-3098-F230-8FB2-CD3B5BB60D47}"/>
              </a:ext>
            </a:extLst>
          </p:cNvPr>
          <p:cNvSpPr txBox="1"/>
          <p:nvPr/>
        </p:nvSpPr>
        <p:spPr>
          <a:xfrm>
            <a:off x="4255798" y="5565682"/>
            <a:ext cx="2594201" cy="461665"/>
          </a:xfrm>
          <a:prstGeom prst="rect">
            <a:avLst/>
          </a:prstGeom>
          <a:noFill/>
        </p:spPr>
        <p:txBody>
          <a:bodyPr wrap="square">
            <a:spAutoFit/>
          </a:bodyPr>
          <a:lstStyle/>
          <a:p>
            <a:r>
              <a:rPr lang="es-CO" sz="1200" dirty="0"/>
              <a:t>Muestra qué porcentaje de las ventas se convierte en ganancia.</a:t>
            </a:r>
          </a:p>
        </p:txBody>
      </p:sp>
      <p:sp>
        <p:nvSpPr>
          <p:cNvPr id="30" name="CuadroTexto 29">
            <a:extLst>
              <a:ext uri="{FF2B5EF4-FFF2-40B4-BE49-F238E27FC236}">
                <a16:creationId xmlns:a16="http://schemas.microsoft.com/office/drawing/2014/main" id="{D2A8E823-65B7-75B3-2DC7-D37C67927903}"/>
              </a:ext>
            </a:extLst>
          </p:cNvPr>
          <p:cNvSpPr txBox="1"/>
          <p:nvPr/>
        </p:nvSpPr>
        <p:spPr>
          <a:xfrm>
            <a:off x="5021712" y="6090541"/>
            <a:ext cx="2594201" cy="646331"/>
          </a:xfrm>
          <a:prstGeom prst="rect">
            <a:avLst/>
          </a:prstGeom>
          <a:noFill/>
        </p:spPr>
        <p:txBody>
          <a:bodyPr wrap="square">
            <a:spAutoFit/>
          </a:bodyPr>
          <a:lstStyle/>
          <a:p>
            <a:r>
              <a:rPr lang="es-CO" sz="1200" dirty="0"/>
              <a:t>Mide qué tan eficientemente la empresa usa sus activos para generar ventas.</a:t>
            </a:r>
          </a:p>
        </p:txBody>
      </p:sp>
    </p:spTree>
    <p:extLst>
      <p:ext uri="{BB962C8B-B14F-4D97-AF65-F5344CB8AC3E}">
        <p14:creationId xmlns:p14="http://schemas.microsoft.com/office/powerpoint/2010/main" val="3682877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6DDB-7A7D-10E7-D724-1FBB2B3ECCE8}"/>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919A25A8-A20C-6B19-A9DB-A805838A175E}"/>
              </a:ext>
            </a:extLst>
          </p:cNvPr>
          <p:cNvGrpSpPr/>
          <p:nvPr/>
        </p:nvGrpSpPr>
        <p:grpSpPr>
          <a:xfrm>
            <a:off x="-1" y="21026"/>
            <a:ext cx="12192000" cy="6836974"/>
            <a:chOff x="0" y="0"/>
            <a:chExt cx="12192000" cy="6836974"/>
          </a:xfrm>
        </p:grpSpPr>
        <p:pic>
          <p:nvPicPr>
            <p:cNvPr id="2" name="Imagen 1">
              <a:extLst>
                <a:ext uri="{FF2B5EF4-FFF2-40B4-BE49-F238E27FC236}">
                  <a16:creationId xmlns:a16="http://schemas.microsoft.com/office/drawing/2014/main" id="{02A04702-09F6-01E6-33DD-83FEDF3AFD93}"/>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6F069B75-8CF0-73F5-E613-E9FD0BAACF9D}"/>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B6588A30-7F7E-4D4B-0031-420021C231F4}"/>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B73FDD89-EC8F-B293-F0E6-A0337081354D}"/>
              </a:ext>
            </a:extLst>
          </p:cNvPr>
          <p:cNvSpPr txBox="1"/>
          <p:nvPr/>
        </p:nvSpPr>
        <p:spPr>
          <a:xfrm>
            <a:off x="-804412" y="464047"/>
            <a:ext cx="10208080"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CREACIÓN DE RATIOS FINANCIEROS</a:t>
            </a:r>
          </a:p>
        </p:txBody>
      </p:sp>
      <p:pic>
        <p:nvPicPr>
          <p:cNvPr id="11" name="Imagen 10">
            <a:extLst>
              <a:ext uri="{FF2B5EF4-FFF2-40B4-BE49-F238E27FC236}">
                <a16:creationId xmlns:a16="http://schemas.microsoft.com/office/drawing/2014/main" id="{272EE88A-7B7B-D03D-DFED-C5BFFC7EF48D}"/>
              </a:ext>
            </a:extLst>
          </p:cNvPr>
          <p:cNvPicPr>
            <a:picLocks noChangeAspect="1"/>
          </p:cNvPicPr>
          <p:nvPr/>
        </p:nvPicPr>
        <p:blipFill>
          <a:blip r:embed="rId3"/>
          <a:stretch>
            <a:fillRect/>
          </a:stretch>
        </p:blipFill>
        <p:spPr>
          <a:xfrm>
            <a:off x="2525596" y="1563574"/>
            <a:ext cx="7140803" cy="5029403"/>
          </a:xfrm>
          <a:prstGeom prst="rect">
            <a:avLst/>
          </a:prstGeom>
        </p:spPr>
      </p:pic>
    </p:spTree>
    <p:extLst>
      <p:ext uri="{BB962C8B-B14F-4D97-AF65-F5344CB8AC3E}">
        <p14:creationId xmlns:p14="http://schemas.microsoft.com/office/powerpoint/2010/main" val="3304864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1CFDF-190E-33B0-A636-129A338B691B}"/>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CCCC977D-F7E4-AD14-1F13-E3D874D1FD69}"/>
              </a:ext>
            </a:extLst>
          </p:cNvPr>
          <p:cNvGrpSpPr/>
          <p:nvPr/>
        </p:nvGrpSpPr>
        <p:grpSpPr>
          <a:xfrm>
            <a:off x="-40694" y="0"/>
            <a:ext cx="12232694" cy="6858000"/>
            <a:chOff x="-40694" y="0"/>
            <a:chExt cx="12232694" cy="6858000"/>
          </a:xfrm>
        </p:grpSpPr>
        <p:pic>
          <p:nvPicPr>
            <p:cNvPr id="2" name="Imagen 1">
              <a:extLst>
                <a:ext uri="{FF2B5EF4-FFF2-40B4-BE49-F238E27FC236}">
                  <a16:creationId xmlns:a16="http://schemas.microsoft.com/office/drawing/2014/main" id="{21CFCD70-397E-F46A-CC8A-BB4015C254FA}"/>
                </a:ext>
              </a:extLst>
            </p:cNvPr>
            <p:cNvPicPr>
              <a:picLocks noChangeAspect="1"/>
            </p:cNvPicPr>
            <p:nvPr/>
          </p:nvPicPr>
          <p:blipFill>
            <a:blip r:embed="rId2"/>
            <a:stretch>
              <a:fillRect/>
            </a:stretch>
          </p:blipFill>
          <p:spPr>
            <a:xfrm>
              <a:off x="-40694" y="0"/>
              <a:ext cx="12232694" cy="6858000"/>
            </a:xfrm>
            <a:prstGeom prst="rect">
              <a:avLst/>
            </a:prstGeom>
          </p:spPr>
        </p:pic>
        <p:sp>
          <p:nvSpPr>
            <p:cNvPr id="6" name="Rectángulo 5">
              <a:extLst>
                <a:ext uri="{FF2B5EF4-FFF2-40B4-BE49-F238E27FC236}">
                  <a16:creationId xmlns:a16="http://schemas.microsoft.com/office/drawing/2014/main" id="{08C3AE9B-0894-6CD1-7113-09FF2DB7DF1E}"/>
                </a:ext>
              </a:extLst>
            </p:cNvPr>
            <p:cNvSpPr/>
            <p:nvPr/>
          </p:nvSpPr>
          <p:spPr>
            <a:xfrm>
              <a:off x="357051" y="1889760"/>
              <a:ext cx="3718560" cy="2290354"/>
            </a:xfrm>
            <a:prstGeom prst="rect">
              <a:avLst/>
            </a:prstGeom>
            <a:solidFill>
              <a:srgbClr val="5329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0D4EF4D4-D20E-54CE-0315-BC9D6E88A5E2}"/>
                </a:ext>
              </a:extLst>
            </p:cNvPr>
            <p:cNvSpPr/>
            <p:nvPr/>
          </p:nvSpPr>
          <p:spPr>
            <a:xfrm>
              <a:off x="357051" y="4541520"/>
              <a:ext cx="3108960" cy="1702525"/>
            </a:xfrm>
            <a:prstGeom prst="rect">
              <a:avLst/>
            </a:prstGeom>
            <a:solidFill>
              <a:srgbClr val="5329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15395187-C683-3984-852E-BB9705380C6E}"/>
                </a:ext>
              </a:extLst>
            </p:cNvPr>
            <p:cNvSpPr/>
            <p:nvPr/>
          </p:nvSpPr>
          <p:spPr>
            <a:xfrm>
              <a:off x="4393681" y="1338943"/>
              <a:ext cx="4489062" cy="449580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sp>
        <p:nvSpPr>
          <p:cNvPr id="4" name="CuadroTexto 3">
            <a:extLst>
              <a:ext uri="{FF2B5EF4-FFF2-40B4-BE49-F238E27FC236}">
                <a16:creationId xmlns:a16="http://schemas.microsoft.com/office/drawing/2014/main" id="{C6AA1481-B2F3-F85D-8452-1C637F5F77C7}"/>
              </a:ext>
            </a:extLst>
          </p:cNvPr>
          <p:cNvSpPr txBox="1"/>
          <p:nvPr/>
        </p:nvSpPr>
        <p:spPr>
          <a:xfrm>
            <a:off x="573544" y="2250107"/>
            <a:ext cx="3285574" cy="1569660"/>
          </a:xfrm>
          <a:prstGeom prst="rect">
            <a:avLst/>
          </a:prstGeom>
          <a:noFill/>
        </p:spPr>
        <p:txBody>
          <a:bodyPr wrap="square">
            <a:spAutoFit/>
          </a:bodyPr>
          <a:lstStyle/>
          <a:p>
            <a:pPr algn="ctr"/>
            <a:r>
              <a:rPr lang="es-CO" sz="3200" dirty="0">
                <a:latin typeface="ADLaM Display" panose="020F0502020204030204" pitchFamily="34" charset="0"/>
                <a:cs typeface="ADLaM Display" panose="020F0502020204030204" pitchFamily="34" charset="0"/>
              </a:rPr>
              <a:t>ANALISIS EXPLORATORIO DE DATOS</a:t>
            </a:r>
          </a:p>
        </p:txBody>
      </p:sp>
      <p:sp>
        <p:nvSpPr>
          <p:cNvPr id="16" name="CuadroTexto 15">
            <a:extLst>
              <a:ext uri="{FF2B5EF4-FFF2-40B4-BE49-F238E27FC236}">
                <a16:creationId xmlns:a16="http://schemas.microsoft.com/office/drawing/2014/main" id="{A04F496C-3E8F-3123-63F6-C4067DB9F601}"/>
              </a:ext>
            </a:extLst>
          </p:cNvPr>
          <p:cNvSpPr txBox="1"/>
          <p:nvPr/>
        </p:nvSpPr>
        <p:spPr>
          <a:xfrm>
            <a:off x="4279380" y="356875"/>
            <a:ext cx="7912619" cy="584775"/>
          </a:xfrm>
          <a:prstGeom prst="rect">
            <a:avLst/>
          </a:prstGeom>
          <a:noFill/>
        </p:spPr>
        <p:txBody>
          <a:bodyPr wrap="square">
            <a:spAutoFit/>
          </a:bodyPr>
          <a:lstStyle/>
          <a:p>
            <a:r>
              <a:rPr lang="es-CO" sz="1600" b="0" dirty="0">
                <a:solidFill>
                  <a:srgbClr val="008000"/>
                </a:solidFill>
                <a:effectLst/>
                <a:latin typeface="Courier New" panose="02070309020205020404" pitchFamily="49" charset="0"/>
              </a:rPr>
              <a:t>#Se aplicó </a:t>
            </a:r>
            <a:r>
              <a:rPr lang="es-CO" sz="1600" b="0" dirty="0" err="1">
                <a:solidFill>
                  <a:srgbClr val="008000"/>
                </a:solidFill>
                <a:effectLst/>
                <a:latin typeface="Courier New" panose="02070309020205020404" pitchFamily="49" charset="0"/>
              </a:rPr>
              <a:t>winsorización</a:t>
            </a:r>
            <a:r>
              <a:rPr lang="es-CO" sz="1600" b="0" dirty="0">
                <a:solidFill>
                  <a:srgbClr val="008000"/>
                </a:solidFill>
                <a:effectLst/>
                <a:latin typeface="Courier New" panose="02070309020205020404" pitchFamily="49" charset="0"/>
              </a:rPr>
              <a:t> para hacer recorte en los percentiles 1% y 99%.</a:t>
            </a:r>
            <a:endParaRPr lang="es-CO" sz="1600" b="0" dirty="0">
              <a:solidFill>
                <a:srgbClr val="000000"/>
              </a:solidFill>
              <a:effectLst/>
              <a:latin typeface="Courier New" panose="02070309020205020404" pitchFamily="49" charset="0"/>
            </a:endParaRPr>
          </a:p>
        </p:txBody>
      </p:sp>
      <p:sp>
        <p:nvSpPr>
          <p:cNvPr id="18" name="CuadroTexto 17">
            <a:extLst>
              <a:ext uri="{FF2B5EF4-FFF2-40B4-BE49-F238E27FC236}">
                <a16:creationId xmlns:a16="http://schemas.microsoft.com/office/drawing/2014/main" id="{A198B081-8DAF-C91B-5494-60CA8392B12F}"/>
              </a:ext>
            </a:extLst>
          </p:cNvPr>
          <p:cNvSpPr txBox="1"/>
          <p:nvPr/>
        </p:nvSpPr>
        <p:spPr>
          <a:xfrm>
            <a:off x="4279381" y="0"/>
            <a:ext cx="6115050" cy="338554"/>
          </a:xfrm>
          <a:prstGeom prst="rect">
            <a:avLst/>
          </a:prstGeom>
          <a:noFill/>
        </p:spPr>
        <p:txBody>
          <a:bodyPr wrap="square">
            <a:spAutoFit/>
          </a:bodyPr>
          <a:lstStyle/>
          <a:p>
            <a:r>
              <a:rPr lang="es-CO" sz="1600" b="0" dirty="0">
                <a:solidFill>
                  <a:srgbClr val="008000"/>
                </a:solidFill>
                <a:effectLst/>
                <a:latin typeface="Courier New" panose="02070309020205020404" pitchFamily="49" charset="0"/>
              </a:rPr>
              <a:t>#Se reemplazaron divisiones por cero con </a:t>
            </a:r>
            <a:r>
              <a:rPr lang="es-CO" sz="1600" b="0" dirty="0" err="1">
                <a:solidFill>
                  <a:srgbClr val="008000"/>
                </a:solidFill>
                <a:effectLst/>
                <a:latin typeface="Courier New" panose="02070309020205020404" pitchFamily="49" charset="0"/>
              </a:rPr>
              <a:t>NaN</a:t>
            </a:r>
            <a:r>
              <a:rPr lang="es-CO" sz="1600" b="0" dirty="0">
                <a:solidFill>
                  <a:srgbClr val="008000"/>
                </a:solidFill>
                <a:effectLst/>
                <a:latin typeface="Courier New" panose="02070309020205020404" pitchFamily="49" charset="0"/>
              </a:rPr>
              <a:t>.</a:t>
            </a:r>
            <a:endParaRPr lang="es-CO" sz="1600" b="0" dirty="0">
              <a:solidFill>
                <a:srgbClr val="000000"/>
              </a:solidFill>
              <a:effectLst/>
              <a:latin typeface="Courier New" panose="02070309020205020404" pitchFamily="49" charset="0"/>
            </a:endParaRPr>
          </a:p>
        </p:txBody>
      </p:sp>
      <p:pic>
        <p:nvPicPr>
          <p:cNvPr id="20" name="Imagen 19">
            <a:extLst>
              <a:ext uri="{FF2B5EF4-FFF2-40B4-BE49-F238E27FC236}">
                <a16:creationId xmlns:a16="http://schemas.microsoft.com/office/drawing/2014/main" id="{A4CE9723-0A8F-3253-EAAC-570620BABFFB}"/>
              </a:ext>
            </a:extLst>
          </p:cNvPr>
          <p:cNvPicPr>
            <a:picLocks noChangeAspect="1"/>
          </p:cNvPicPr>
          <p:nvPr/>
        </p:nvPicPr>
        <p:blipFill>
          <a:blip r:embed="rId3"/>
          <a:stretch>
            <a:fillRect/>
          </a:stretch>
        </p:blipFill>
        <p:spPr>
          <a:xfrm>
            <a:off x="4567677" y="1627497"/>
            <a:ext cx="7336024" cy="3338464"/>
          </a:xfrm>
          <a:prstGeom prst="rect">
            <a:avLst/>
          </a:prstGeom>
        </p:spPr>
      </p:pic>
      <p:pic>
        <p:nvPicPr>
          <p:cNvPr id="24" name="Imagen 23">
            <a:extLst>
              <a:ext uri="{FF2B5EF4-FFF2-40B4-BE49-F238E27FC236}">
                <a16:creationId xmlns:a16="http://schemas.microsoft.com/office/drawing/2014/main" id="{347AC353-B931-140A-2C58-BE85C6891392}"/>
              </a:ext>
            </a:extLst>
          </p:cNvPr>
          <p:cNvPicPr>
            <a:picLocks noChangeAspect="1"/>
          </p:cNvPicPr>
          <p:nvPr/>
        </p:nvPicPr>
        <p:blipFill>
          <a:blip r:embed="rId4"/>
          <a:srcRect t="3061" b="2355"/>
          <a:stretch/>
        </p:blipFill>
        <p:spPr>
          <a:xfrm>
            <a:off x="1949457" y="4687967"/>
            <a:ext cx="533748" cy="555988"/>
          </a:xfrm>
          <a:prstGeom prst="rect">
            <a:avLst/>
          </a:prstGeom>
        </p:spPr>
      </p:pic>
    </p:spTree>
    <p:extLst>
      <p:ext uri="{BB962C8B-B14F-4D97-AF65-F5344CB8AC3E}">
        <p14:creationId xmlns:p14="http://schemas.microsoft.com/office/powerpoint/2010/main" val="338153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D46BF-57BA-62C8-AB1C-BBEB796FA436}"/>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BDFB69EA-1236-7F0A-AB51-AD89643EBF5A}"/>
              </a:ext>
            </a:extLst>
          </p:cNvPr>
          <p:cNvGrpSpPr/>
          <p:nvPr/>
        </p:nvGrpSpPr>
        <p:grpSpPr>
          <a:xfrm>
            <a:off x="-1" y="21026"/>
            <a:ext cx="12192000" cy="6836974"/>
            <a:chOff x="0" y="0"/>
            <a:chExt cx="12192000" cy="6836974"/>
          </a:xfrm>
        </p:grpSpPr>
        <p:pic>
          <p:nvPicPr>
            <p:cNvPr id="2" name="Imagen 1">
              <a:extLst>
                <a:ext uri="{FF2B5EF4-FFF2-40B4-BE49-F238E27FC236}">
                  <a16:creationId xmlns:a16="http://schemas.microsoft.com/office/drawing/2014/main" id="{1B0B1BBF-D2BC-B888-21F8-DD8FDEAB54BB}"/>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E79259DE-FAE5-75C1-FD49-D981C7858579}"/>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2ADD056-D574-D1B5-7DDB-7239635AF8CE}"/>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00077643-F9E0-C4DF-8843-6FA5F176E2DA}"/>
              </a:ext>
            </a:extLst>
          </p:cNvPr>
          <p:cNvSpPr txBox="1"/>
          <p:nvPr/>
        </p:nvSpPr>
        <p:spPr>
          <a:xfrm>
            <a:off x="-804412" y="509217"/>
            <a:ext cx="10208080"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ANALISIS EXPLORATORIO DE DATOS</a:t>
            </a:r>
          </a:p>
        </p:txBody>
      </p:sp>
      <p:sp>
        <p:nvSpPr>
          <p:cNvPr id="13" name="CuadroTexto 12">
            <a:extLst>
              <a:ext uri="{FF2B5EF4-FFF2-40B4-BE49-F238E27FC236}">
                <a16:creationId xmlns:a16="http://schemas.microsoft.com/office/drawing/2014/main" id="{48D9D520-A955-8A2E-F48B-88EDF0BF9FD6}"/>
              </a:ext>
            </a:extLst>
          </p:cNvPr>
          <p:cNvSpPr txBox="1"/>
          <p:nvPr/>
        </p:nvSpPr>
        <p:spPr>
          <a:xfrm>
            <a:off x="304370" y="1883507"/>
            <a:ext cx="4367894" cy="1323439"/>
          </a:xfrm>
          <a:prstGeom prst="rect">
            <a:avLst/>
          </a:prstGeom>
          <a:noFill/>
        </p:spPr>
        <p:txBody>
          <a:bodyPr wrap="square">
            <a:spAutoFit/>
          </a:bodyPr>
          <a:lstStyle/>
          <a:p>
            <a:pPr algn="ctr"/>
            <a:r>
              <a:rPr lang="es-CO" sz="1600" b="1" dirty="0">
                <a:solidFill>
                  <a:srgbClr val="00B0F0"/>
                </a:solidFill>
                <a:latin typeface="ADLaM Display" panose="02010000000000000000" pitchFamily="2" charset="77"/>
                <a:ea typeface="ADLaM Display" panose="02010000000000000000" pitchFamily="2" charset="77"/>
                <a:cs typeface="ADLaM Display" panose="02010000000000000000" pitchFamily="2" charset="77"/>
              </a:rPr>
              <a:t>Liquidez General</a:t>
            </a:r>
            <a:r>
              <a:rPr lang="es-CO" sz="1600" dirty="0">
                <a:solidFill>
                  <a:srgbClr val="00B0F0"/>
                </a:solidFill>
                <a:latin typeface="ADLaM Display" panose="02010000000000000000" pitchFamily="2" charset="77"/>
                <a:ea typeface="ADLaM Display" panose="02010000000000000000" pitchFamily="2" charset="77"/>
                <a:cs typeface="ADLaM Display" panose="02010000000000000000" pitchFamily="2" charset="77"/>
              </a:rPr>
              <a:t> (3.21, mediana 1.82)</a:t>
            </a:r>
            <a:br>
              <a:rPr lang="es-CO" sz="1600" dirty="0">
                <a:solidFill>
                  <a:srgbClr val="00B0F0"/>
                </a:solidFill>
                <a:latin typeface="ADLaM Display" panose="02010000000000000000" pitchFamily="2" charset="77"/>
                <a:ea typeface="ADLaM Display" panose="02010000000000000000" pitchFamily="2" charset="77"/>
                <a:cs typeface="ADLaM Display" panose="02010000000000000000" pitchFamily="2" charset="77"/>
              </a:rPr>
            </a:br>
            <a:r>
              <a:rPr lang="es-CO" sz="1600" dirty="0">
                <a:latin typeface="ADLaM Display" panose="02010000000000000000" pitchFamily="2" charset="77"/>
                <a:ea typeface="ADLaM Display" panose="02010000000000000000" pitchFamily="2" charset="77"/>
                <a:cs typeface="ADLaM Display" panose="02010000000000000000" pitchFamily="2" charset="77"/>
              </a:rPr>
              <a:t>La mayoría de las empresas tienen liquidez moderada (~2), aunque algunas presentan excesos (&gt;50), señalando posibles ineficiencias.</a:t>
            </a:r>
          </a:p>
        </p:txBody>
      </p:sp>
      <p:sp>
        <p:nvSpPr>
          <p:cNvPr id="14" name="CuadroTexto 13">
            <a:extLst>
              <a:ext uri="{FF2B5EF4-FFF2-40B4-BE49-F238E27FC236}">
                <a16:creationId xmlns:a16="http://schemas.microsoft.com/office/drawing/2014/main" id="{892C77A0-44DF-755A-6CB8-AFF21CA6D67A}"/>
              </a:ext>
            </a:extLst>
          </p:cNvPr>
          <p:cNvSpPr txBox="1"/>
          <p:nvPr/>
        </p:nvSpPr>
        <p:spPr>
          <a:xfrm>
            <a:off x="3877920" y="2913987"/>
            <a:ext cx="3897087" cy="1077218"/>
          </a:xfrm>
          <a:prstGeom prst="rect">
            <a:avLst/>
          </a:prstGeom>
          <a:noFill/>
        </p:spPr>
        <p:txBody>
          <a:bodyPr wrap="square">
            <a:spAutoFit/>
          </a:bodyPr>
          <a:lstStyle/>
          <a:p>
            <a:pPr algn="ctr"/>
            <a:r>
              <a:rPr lang="es-CO" sz="1600" b="1" dirty="0">
                <a:solidFill>
                  <a:srgbClr val="C00000"/>
                </a:solidFill>
                <a:latin typeface="ADLaM Display" panose="02010000000000000000" pitchFamily="2" charset="77"/>
                <a:ea typeface="ADLaM Display" panose="02010000000000000000" pitchFamily="2" charset="77"/>
                <a:cs typeface="ADLaM Display" panose="02010000000000000000" pitchFamily="2" charset="77"/>
              </a:rPr>
              <a:t>Autonomía Financiera</a:t>
            </a:r>
            <a:r>
              <a:rPr lang="es-CO" sz="1600" dirty="0">
                <a:solidFill>
                  <a:srgbClr val="C00000"/>
                </a:solidFill>
                <a:latin typeface="ADLaM Display" panose="02010000000000000000" pitchFamily="2" charset="77"/>
                <a:ea typeface="ADLaM Display" panose="02010000000000000000" pitchFamily="2" charset="77"/>
                <a:cs typeface="ADLaM Display" panose="02010000000000000000" pitchFamily="2" charset="77"/>
              </a:rPr>
              <a:t> (0.45)</a:t>
            </a:r>
            <a:br>
              <a:rPr lang="es-CO" sz="1600" dirty="0">
                <a:solidFill>
                  <a:srgbClr val="C00000"/>
                </a:solidFill>
                <a:latin typeface="ADLaM Display" panose="02010000000000000000" pitchFamily="2" charset="77"/>
                <a:ea typeface="ADLaM Display" panose="02010000000000000000" pitchFamily="2" charset="77"/>
                <a:cs typeface="ADLaM Display" panose="02010000000000000000" pitchFamily="2" charset="77"/>
              </a:rPr>
            </a:br>
            <a:r>
              <a:rPr lang="es-CO" sz="1600" dirty="0">
                <a:latin typeface="ADLaM Display" panose="02010000000000000000" pitchFamily="2" charset="77"/>
                <a:ea typeface="ADLaM Display" panose="02010000000000000000" pitchFamily="2" charset="77"/>
                <a:cs typeface="ADLaM Display" panose="02010000000000000000" pitchFamily="2" charset="77"/>
              </a:rPr>
              <a:t>45% de los activos se financian con recursos propios, lo cual es un balance razonable.</a:t>
            </a:r>
          </a:p>
        </p:txBody>
      </p:sp>
      <p:sp>
        <p:nvSpPr>
          <p:cNvPr id="15" name="CuadroTexto 14">
            <a:extLst>
              <a:ext uri="{FF2B5EF4-FFF2-40B4-BE49-F238E27FC236}">
                <a16:creationId xmlns:a16="http://schemas.microsoft.com/office/drawing/2014/main" id="{ED616FEA-69C2-8D15-B18C-B9AACE877809}"/>
              </a:ext>
            </a:extLst>
          </p:cNvPr>
          <p:cNvSpPr txBox="1"/>
          <p:nvPr/>
        </p:nvSpPr>
        <p:spPr>
          <a:xfrm>
            <a:off x="5406791" y="1656355"/>
            <a:ext cx="5037369" cy="1077218"/>
          </a:xfrm>
          <a:prstGeom prst="rect">
            <a:avLst/>
          </a:prstGeom>
          <a:noFill/>
        </p:spPr>
        <p:txBody>
          <a:bodyPr wrap="square">
            <a:spAutoFit/>
          </a:bodyPr>
          <a:lstStyle/>
          <a:p>
            <a:pPr algn="ctr"/>
            <a:r>
              <a:rPr lang="es-CO" sz="1600" b="1" dirty="0">
                <a:solidFill>
                  <a:srgbClr val="7030A0"/>
                </a:solidFill>
                <a:latin typeface="ADLaM Display" panose="02010000000000000000" pitchFamily="2" charset="77"/>
                <a:ea typeface="ADLaM Display" panose="02010000000000000000" pitchFamily="2" charset="77"/>
                <a:cs typeface="ADLaM Display" panose="02010000000000000000" pitchFamily="2" charset="77"/>
              </a:rPr>
              <a:t>Razón de Endeudamiento</a:t>
            </a:r>
            <a:r>
              <a:rPr lang="es-CO" sz="1600" dirty="0">
                <a:solidFill>
                  <a:srgbClr val="7030A0"/>
                </a:solidFill>
                <a:latin typeface="ADLaM Display" panose="02010000000000000000" pitchFamily="2" charset="77"/>
                <a:ea typeface="ADLaM Display" panose="02010000000000000000" pitchFamily="2" charset="77"/>
                <a:cs typeface="ADLaM Display" panose="02010000000000000000" pitchFamily="2" charset="77"/>
              </a:rPr>
              <a:t> (2.17, mediana 1.13)</a:t>
            </a:r>
          </a:p>
          <a:p>
            <a:pPr algn="ctr"/>
            <a:r>
              <a:rPr lang="es-CO" sz="1600" dirty="0">
                <a:latin typeface="ADLaM Display" panose="02010000000000000000" pitchFamily="2" charset="77"/>
                <a:ea typeface="ADLaM Display" panose="02010000000000000000" pitchFamily="2" charset="77"/>
                <a:cs typeface="ADLaM Display" panose="02010000000000000000" pitchFamily="2" charset="77"/>
              </a:rPr>
              <a:t>La mayoría deben ~1 vez su patrimonio, pero existen casos extremos de sobreendeudamiento (máx. 33).</a:t>
            </a:r>
          </a:p>
        </p:txBody>
      </p:sp>
      <p:sp>
        <p:nvSpPr>
          <p:cNvPr id="16" name="CuadroTexto 15">
            <a:extLst>
              <a:ext uri="{FF2B5EF4-FFF2-40B4-BE49-F238E27FC236}">
                <a16:creationId xmlns:a16="http://schemas.microsoft.com/office/drawing/2014/main" id="{CF685EE2-9B25-D844-8F28-35D5749132E7}"/>
              </a:ext>
            </a:extLst>
          </p:cNvPr>
          <p:cNvSpPr txBox="1"/>
          <p:nvPr/>
        </p:nvSpPr>
        <p:spPr>
          <a:xfrm>
            <a:off x="8727706" y="3007273"/>
            <a:ext cx="3273706" cy="1077218"/>
          </a:xfrm>
          <a:prstGeom prst="rect">
            <a:avLst/>
          </a:prstGeom>
          <a:noFill/>
        </p:spPr>
        <p:txBody>
          <a:bodyPr wrap="square">
            <a:spAutoFit/>
          </a:bodyPr>
          <a:lstStyle/>
          <a:p>
            <a:pPr algn="ctr"/>
            <a:r>
              <a:rPr lang="es-CO" sz="1600" b="1" dirty="0">
                <a:solidFill>
                  <a:srgbClr val="92D050"/>
                </a:solidFill>
                <a:latin typeface="ADLaM Display" panose="02010000000000000000" pitchFamily="2" charset="77"/>
                <a:ea typeface="ADLaM Display" panose="02010000000000000000" pitchFamily="2" charset="77"/>
                <a:cs typeface="ADLaM Display" panose="02010000000000000000" pitchFamily="2" charset="77"/>
              </a:rPr>
              <a:t>Apalancamiento</a:t>
            </a:r>
            <a:r>
              <a:rPr lang="es-CO" sz="1600" dirty="0">
                <a:solidFill>
                  <a:srgbClr val="92D050"/>
                </a:solidFill>
                <a:latin typeface="ADLaM Display" panose="02010000000000000000" pitchFamily="2" charset="77"/>
                <a:ea typeface="ADLaM Display" panose="02010000000000000000" pitchFamily="2" charset="77"/>
                <a:cs typeface="ADLaM Display" panose="02010000000000000000" pitchFamily="2" charset="77"/>
              </a:rPr>
              <a:t> (0.54)</a:t>
            </a:r>
            <a:br>
              <a:rPr lang="es-CO" sz="1600" dirty="0">
                <a:solidFill>
                  <a:srgbClr val="92D050"/>
                </a:solidFill>
                <a:latin typeface="ADLaM Display" panose="02010000000000000000" pitchFamily="2" charset="77"/>
                <a:ea typeface="ADLaM Display" panose="02010000000000000000" pitchFamily="2" charset="77"/>
                <a:cs typeface="ADLaM Display" panose="02010000000000000000" pitchFamily="2" charset="77"/>
              </a:rPr>
            </a:br>
            <a:r>
              <a:rPr lang="es-CO" sz="1600" dirty="0">
                <a:latin typeface="ADLaM Display" panose="02010000000000000000" pitchFamily="2" charset="77"/>
                <a:ea typeface="ADLaM Display" panose="02010000000000000000" pitchFamily="2" charset="77"/>
                <a:cs typeface="ADLaM Display" panose="02010000000000000000" pitchFamily="2" charset="77"/>
              </a:rPr>
              <a:t>En promedio, 54% de los activos se financian con deuda; nivel moderado y estable.</a:t>
            </a:r>
          </a:p>
        </p:txBody>
      </p:sp>
      <p:sp>
        <p:nvSpPr>
          <p:cNvPr id="21" name="CuadroTexto 20">
            <a:extLst>
              <a:ext uri="{FF2B5EF4-FFF2-40B4-BE49-F238E27FC236}">
                <a16:creationId xmlns:a16="http://schemas.microsoft.com/office/drawing/2014/main" id="{9EE71821-80DE-4253-CFCA-AB02DB183594}"/>
              </a:ext>
            </a:extLst>
          </p:cNvPr>
          <p:cNvSpPr txBox="1"/>
          <p:nvPr/>
        </p:nvSpPr>
        <p:spPr>
          <a:xfrm>
            <a:off x="5571194" y="4114952"/>
            <a:ext cx="3897087" cy="1077218"/>
          </a:xfrm>
          <a:prstGeom prst="rect">
            <a:avLst/>
          </a:prstGeom>
          <a:noFill/>
        </p:spPr>
        <p:txBody>
          <a:bodyPr wrap="square">
            <a:spAutoFit/>
          </a:bodyPr>
          <a:lstStyle/>
          <a:p>
            <a:pPr algn="ctr"/>
            <a:r>
              <a:rPr lang="es-CO" sz="1600" b="1" dirty="0">
                <a:solidFill>
                  <a:srgbClr val="FF0000"/>
                </a:solidFill>
                <a:latin typeface="ADLaM Display" panose="02010000000000000000" pitchFamily="2" charset="77"/>
                <a:ea typeface="ADLaM Display" panose="02010000000000000000" pitchFamily="2" charset="77"/>
                <a:cs typeface="ADLaM Display" panose="02010000000000000000" pitchFamily="2" charset="77"/>
              </a:rPr>
              <a:t>Margen Neto</a:t>
            </a:r>
            <a:r>
              <a:rPr lang="es-CO" sz="1600" dirty="0">
                <a:solidFill>
                  <a:srgbClr val="FF0000"/>
                </a:solidFill>
                <a:latin typeface="ADLaM Display" panose="02010000000000000000" pitchFamily="2" charset="77"/>
                <a:ea typeface="ADLaM Display" panose="02010000000000000000" pitchFamily="2" charset="77"/>
                <a:cs typeface="ADLaM Display" panose="02010000000000000000" pitchFamily="2" charset="77"/>
              </a:rPr>
              <a:t> (0.06, mediana 0.03)</a:t>
            </a:r>
            <a:br>
              <a:rPr lang="es-CO" sz="1600" dirty="0">
                <a:solidFill>
                  <a:srgbClr val="FF0000"/>
                </a:solidFill>
                <a:latin typeface="ADLaM Display" panose="02010000000000000000" pitchFamily="2" charset="77"/>
                <a:ea typeface="ADLaM Display" panose="02010000000000000000" pitchFamily="2" charset="77"/>
                <a:cs typeface="ADLaM Display" panose="02010000000000000000" pitchFamily="2" charset="77"/>
              </a:rPr>
            </a:br>
            <a:r>
              <a:rPr lang="es-CO" sz="1600" dirty="0">
                <a:latin typeface="ADLaM Display" panose="02010000000000000000" pitchFamily="2" charset="77"/>
                <a:ea typeface="ADLaM Display" panose="02010000000000000000" pitchFamily="2" charset="77"/>
                <a:cs typeface="ADLaM Display" panose="02010000000000000000" pitchFamily="2" charset="77"/>
              </a:rPr>
              <a:t>Empresas convierten ~6% de ingresos en utilidades; muchos operan con márgenes ajustados o negativos.</a:t>
            </a:r>
          </a:p>
        </p:txBody>
      </p:sp>
      <p:sp>
        <p:nvSpPr>
          <p:cNvPr id="22" name="CuadroTexto 21">
            <a:extLst>
              <a:ext uri="{FF2B5EF4-FFF2-40B4-BE49-F238E27FC236}">
                <a16:creationId xmlns:a16="http://schemas.microsoft.com/office/drawing/2014/main" id="{47CDA23F-F261-B165-6725-ABD18D4D9A00}"/>
              </a:ext>
            </a:extLst>
          </p:cNvPr>
          <p:cNvSpPr txBox="1"/>
          <p:nvPr/>
        </p:nvSpPr>
        <p:spPr>
          <a:xfrm>
            <a:off x="2364917" y="5391286"/>
            <a:ext cx="3897087" cy="1077218"/>
          </a:xfrm>
          <a:prstGeom prst="rect">
            <a:avLst/>
          </a:prstGeom>
          <a:noFill/>
        </p:spPr>
        <p:txBody>
          <a:bodyPr wrap="square">
            <a:spAutoFit/>
          </a:bodyPr>
          <a:lstStyle/>
          <a:p>
            <a:pPr algn="ctr"/>
            <a:r>
              <a:rPr lang="es-CO" sz="1600" b="1" dirty="0">
                <a:solidFill>
                  <a:srgbClr val="002060"/>
                </a:solidFill>
                <a:latin typeface="ADLaM Display" panose="02010000000000000000" pitchFamily="2" charset="77"/>
                <a:ea typeface="ADLaM Display" panose="02010000000000000000" pitchFamily="2" charset="77"/>
                <a:cs typeface="ADLaM Display" panose="02010000000000000000" pitchFamily="2" charset="77"/>
              </a:rPr>
              <a:t>ROE</a:t>
            </a:r>
            <a:r>
              <a:rPr lang="es-CO" sz="1600" dirty="0">
                <a:solidFill>
                  <a:srgbClr val="002060"/>
                </a:solidFill>
                <a:latin typeface="ADLaM Display" panose="02010000000000000000" pitchFamily="2" charset="77"/>
                <a:ea typeface="ADLaM Display" panose="02010000000000000000" pitchFamily="2" charset="77"/>
                <a:cs typeface="ADLaM Display" panose="02010000000000000000" pitchFamily="2" charset="77"/>
              </a:rPr>
              <a:t> (0.14)</a:t>
            </a:r>
            <a:br>
              <a:rPr lang="es-CO" sz="1600" dirty="0">
                <a:solidFill>
                  <a:srgbClr val="C00000"/>
                </a:solidFill>
                <a:latin typeface="ADLaM Display" panose="02010000000000000000" pitchFamily="2" charset="77"/>
                <a:ea typeface="ADLaM Display" panose="02010000000000000000" pitchFamily="2" charset="77"/>
                <a:cs typeface="ADLaM Display" panose="02010000000000000000" pitchFamily="2" charset="77"/>
              </a:rPr>
            </a:br>
            <a:r>
              <a:rPr lang="es-CO" sz="1600" dirty="0">
                <a:latin typeface="ADLaM Display" panose="02010000000000000000" pitchFamily="2" charset="77"/>
                <a:ea typeface="ADLaM Display" panose="02010000000000000000" pitchFamily="2" charset="77"/>
                <a:cs typeface="ADLaM Display" panose="02010000000000000000" pitchFamily="2" charset="77"/>
              </a:rPr>
              <a:t>Los accionistas obtienen ~14% de rentabilidad; mayor que el ROA por efecto del apalancamiento.</a:t>
            </a:r>
          </a:p>
        </p:txBody>
      </p:sp>
      <p:sp>
        <p:nvSpPr>
          <p:cNvPr id="23" name="CuadroTexto 22">
            <a:extLst>
              <a:ext uri="{FF2B5EF4-FFF2-40B4-BE49-F238E27FC236}">
                <a16:creationId xmlns:a16="http://schemas.microsoft.com/office/drawing/2014/main" id="{566FF58F-C6DF-B2A0-AF27-EE303D35249D}"/>
              </a:ext>
            </a:extLst>
          </p:cNvPr>
          <p:cNvSpPr txBox="1"/>
          <p:nvPr/>
        </p:nvSpPr>
        <p:spPr>
          <a:xfrm>
            <a:off x="775177" y="4062568"/>
            <a:ext cx="3897087" cy="1077218"/>
          </a:xfrm>
          <a:prstGeom prst="rect">
            <a:avLst/>
          </a:prstGeom>
          <a:noFill/>
        </p:spPr>
        <p:txBody>
          <a:bodyPr wrap="square">
            <a:spAutoFit/>
          </a:bodyPr>
          <a:lstStyle/>
          <a:p>
            <a:pPr algn="ctr"/>
            <a:r>
              <a:rPr lang="es-CO" sz="1600" b="1" dirty="0">
                <a:solidFill>
                  <a:srgbClr val="0070C0"/>
                </a:solidFill>
                <a:latin typeface="ADLaM Display" panose="02010000000000000000" pitchFamily="2" charset="77"/>
                <a:ea typeface="ADLaM Display" panose="02010000000000000000" pitchFamily="2" charset="77"/>
                <a:cs typeface="ADLaM Display" panose="02010000000000000000" pitchFamily="2" charset="77"/>
              </a:rPr>
              <a:t>ROA</a:t>
            </a:r>
            <a:r>
              <a:rPr lang="es-CO" sz="1600" dirty="0">
                <a:solidFill>
                  <a:srgbClr val="0070C0"/>
                </a:solidFill>
                <a:latin typeface="ADLaM Display" panose="02010000000000000000" pitchFamily="2" charset="77"/>
                <a:ea typeface="ADLaM Display" panose="02010000000000000000" pitchFamily="2" charset="77"/>
                <a:cs typeface="ADLaM Display" panose="02010000000000000000" pitchFamily="2" charset="77"/>
              </a:rPr>
              <a:t> (0.06)</a:t>
            </a:r>
            <a:br>
              <a:rPr lang="es-CO" sz="1600" dirty="0">
                <a:solidFill>
                  <a:srgbClr val="C00000"/>
                </a:solidFill>
                <a:latin typeface="ADLaM Display" panose="02010000000000000000" pitchFamily="2" charset="77"/>
                <a:ea typeface="ADLaM Display" panose="02010000000000000000" pitchFamily="2" charset="77"/>
                <a:cs typeface="ADLaM Display" panose="02010000000000000000" pitchFamily="2" charset="77"/>
              </a:rPr>
            </a:br>
            <a:r>
              <a:rPr lang="es-CO" sz="1600" dirty="0">
                <a:latin typeface="ADLaM Display" panose="02010000000000000000" pitchFamily="2" charset="77"/>
                <a:ea typeface="ADLaM Display" panose="02010000000000000000" pitchFamily="2" charset="77"/>
                <a:cs typeface="ADLaM Display" panose="02010000000000000000" pitchFamily="2" charset="77"/>
              </a:rPr>
              <a:t>Rentabilidad moderada sobre activos (~6%); la mayoría está en rangos positivos.</a:t>
            </a:r>
          </a:p>
        </p:txBody>
      </p:sp>
      <p:sp>
        <p:nvSpPr>
          <p:cNvPr id="28" name="CuadroTexto 27">
            <a:extLst>
              <a:ext uri="{FF2B5EF4-FFF2-40B4-BE49-F238E27FC236}">
                <a16:creationId xmlns:a16="http://schemas.microsoft.com/office/drawing/2014/main" id="{BE3094D9-5ADE-CDE0-4BE7-56D85DF02836}"/>
              </a:ext>
            </a:extLst>
          </p:cNvPr>
          <p:cNvSpPr txBox="1"/>
          <p:nvPr/>
        </p:nvSpPr>
        <p:spPr>
          <a:xfrm>
            <a:off x="7509607" y="5414860"/>
            <a:ext cx="4191518" cy="1077218"/>
          </a:xfrm>
          <a:prstGeom prst="rect">
            <a:avLst/>
          </a:prstGeom>
          <a:noFill/>
        </p:spPr>
        <p:txBody>
          <a:bodyPr wrap="square">
            <a:spAutoFit/>
          </a:bodyPr>
          <a:lstStyle/>
          <a:p>
            <a:pPr algn="ctr"/>
            <a:r>
              <a:rPr lang="es-CO" sz="1600" b="1" dirty="0">
                <a:solidFill>
                  <a:srgbClr val="00B050"/>
                </a:solidFill>
                <a:latin typeface="ADLaM Display" panose="02010000000000000000" pitchFamily="2" charset="77"/>
                <a:ea typeface="ADLaM Display" panose="02010000000000000000" pitchFamily="2" charset="77"/>
                <a:cs typeface="ADLaM Display" panose="02010000000000000000" pitchFamily="2" charset="77"/>
              </a:rPr>
              <a:t>Rotación de Activos</a:t>
            </a:r>
            <a:r>
              <a:rPr lang="es-CO" sz="1600" dirty="0">
                <a:solidFill>
                  <a:srgbClr val="00B050"/>
                </a:solidFill>
                <a:latin typeface="ADLaM Display" panose="02010000000000000000" pitchFamily="2" charset="77"/>
                <a:ea typeface="ADLaM Display" panose="02010000000000000000" pitchFamily="2" charset="77"/>
                <a:cs typeface="ADLaM Display" panose="02010000000000000000" pitchFamily="2" charset="77"/>
              </a:rPr>
              <a:t> (1.93, mediana 1.38)</a:t>
            </a:r>
          </a:p>
          <a:p>
            <a:pPr algn="ctr"/>
            <a:r>
              <a:rPr lang="es-CO" sz="1600" dirty="0">
                <a:latin typeface="ADLaM Display" panose="02010000000000000000" pitchFamily="2" charset="77"/>
                <a:ea typeface="ADLaM Display" panose="02010000000000000000" pitchFamily="2" charset="77"/>
                <a:cs typeface="ADLaM Display" panose="02010000000000000000" pitchFamily="2" charset="77"/>
              </a:rPr>
              <a:t>En promedio, los activos generan casi 2 veces su valor en ingresos; eficiencia muy variable entre sectores.</a:t>
            </a:r>
          </a:p>
        </p:txBody>
      </p:sp>
    </p:spTree>
    <p:extLst>
      <p:ext uri="{BB962C8B-B14F-4D97-AF65-F5344CB8AC3E}">
        <p14:creationId xmlns:p14="http://schemas.microsoft.com/office/powerpoint/2010/main" val="807615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00DB-6AF5-EC63-C313-93CE3D02B3E0}"/>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2D2E1753-3640-E52F-B49D-6D8E242F94E0}"/>
              </a:ext>
            </a:extLst>
          </p:cNvPr>
          <p:cNvGrpSpPr/>
          <p:nvPr/>
        </p:nvGrpSpPr>
        <p:grpSpPr>
          <a:xfrm>
            <a:off x="-1" y="21026"/>
            <a:ext cx="12192000" cy="6836974"/>
            <a:chOff x="0" y="0"/>
            <a:chExt cx="12192000" cy="6836974"/>
          </a:xfrm>
        </p:grpSpPr>
        <p:pic>
          <p:nvPicPr>
            <p:cNvPr id="2" name="Imagen 1">
              <a:extLst>
                <a:ext uri="{FF2B5EF4-FFF2-40B4-BE49-F238E27FC236}">
                  <a16:creationId xmlns:a16="http://schemas.microsoft.com/office/drawing/2014/main" id="{E2566AA0-BD45-C491-F142-DEE3BC89FD7B}"/>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BA3C65A8-F593-02A4-B37C-909042DB5707}"/>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662B77A-9D2F-E64A-0740-837FF114DA7F}"/>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2B57EBC2-9DED-CF3F-0C51-6C1F55F521DA}"/>
              </a:ext>
            </a:extLst>
          </p:cNvPr>
          <p:cNvSpPr txBox="1"/>
          <p:nvPr/>
        </p:nvSpPr>
        <p:spPr>
          <a:xfrm>
            <a:off x="-804412" y="509217"/>
            <a:ext cx="10208080"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ANALISIS EXPLORATORIO DE DATOS</a:t>
            </a:r>
          </a:p>
        </p:txBody>
      </p:sp>
      <p:pic>
        <p:nvPicPr>
          <p:cNvPr id="30" name="Imagen 29">
            <a:extLst>
              <a:ext uri="{FF2B5EF4-FFF2-40B4-BE49-F238E27FC236}">
                <a16:creationId xmlns:a16="http://schemas.microsoft.com/office/drawing/2014/main" id="{0C8FE4FC-6ED5-79F3-6A6E-0A711D39D383}"/>
              </a:ext>
            </a:extLst>
          </p:cNvPr>
          <p:cNvPicPr>
            <a:picLocks noChangeAspect="1"/>
          </p:cNvPicPr>
          <p:nvPr/>
        </p:nvPicPr>
        <p:blipFill>
          <a:blip r:embed="rId3"/>
          <a:stretch>
            <a:fillRect/>
          </a:stretch>
        </p:blipFill>
        <p:spPr>
          <a:xfrm>
            <a:off x="3888569" y="1501410"/>
            <a:ext cx="8041534" cy="5335563"/>
          </a:xfrm>
          <a:prstGeom prst="rect">
            <a:avLst/>
          </a:prstGeom>
        </p:spPr>
      </p:pic>
      <p:sp>
        <p:nvSpPr>
          <p:cNvPr id="12" name="CuadroTexto 11">
            <a:extLst>
              <a:ext uri="{FF2B5EF4-FFF2-40B4-BE49-F238E27FC236}">
                <a16:creationId xmlns:a16="http://schemas.microsoft.com/office/drawing/2014/main" id="{BBA0DB59-0B02-6CC1-C1EF-6EBFDBC7956B}"/>
              </a:ext>
            </a:extLst>
          </p:cNvPr>
          <p:cNvSpPr txBox="1"/>
          <p:nvPr/>
        </p:nvSpPr>
        <p:spPr>
          <a:xfrm>
            <a:off x="155120" y="2666255"/>
            <a:ext cx="3558423" cy="2585323"/>
          </a:xfrm>
          <a:prstGeom prst="rect">
            <a:avLst/>
          </a:prstGeom>
          <a:noFill/>
        </p:spPr>
        <p:txBody>
          <a:bodyPr wrap="square">
            <a:spAutoFit/>
          </a:bodyPr>
          <a:lstStyle/>
          <a:p>
            <a:pPr algn="just"/>
            <a:r>
              <a:rPr lang="es-CO" dirty="0">
                <a:latin typeface="ADLaM Display" panose="02010000000000000000" pitchFamily="2" charset="77"/>
                <a:ea typeface="ADLaM Display" panose="02010000000000000000" pitchFamily="2" charset="77"/>
                <a:cs typeface="ADLaM Display" panose="02010000000000000000" pitchFamily="2" charset="77"/>
              </a:rPr>
              <a:t>-La mayoría de las empresas están en rangos financieros saludables, pero existen grupos minoritarios con alto riesgo (endeudamiento elevado, pérdidas o liquidez ineficiente), lo que justifica aplicar segmentación y predicción de insolvencia.</a:t>
            </a:r>
          </a:p>
        </p:txBody>
      </p:sp>
    </p:spTree>
    <p:extLst>
      <p:ext uri="{BB962C8B-B14F-4D97-AF65-F5344CB8AC3E}">
        <p14:creationId xmlns:p14="http://schemas.microsoft.com/office/powerpoint/2010/main" val="363023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26FF1-CCCA-4175-40D7-756D13CC59AE}"/>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4A42A7D7-E18E-4A64-06A2-A789F56135E0}"/>
              </a:ext>
            </a:extLst>
          </p:cNvPr>
          <p:cNvGrpSpPr/>
          <p:nvPr/>
        </p:nvGrpSpPr>
        <p:grpSpPr>
          <a:xfrm>
            <a:off x="-1" y="21026"/>
            <a:ext cx="12192000" cy="6836974"/>
            <a:chOff x="0" y="0"/>
            <a:chExt cx="12192000" cy="6836974"/>
          </a:xfrm>
        </p:grpSpPr>
        <p:pic>
          <p:nvPicPr>
            <p:cNvPr id="2" name="Imagen 1">
              <a:extLst>
                <a:ext uri="{FF2B5EF4-FFF2-40B4-BE49-F238E27FC236}">
                  <a16:creationId xmlns:a16="http://schemas.microsoft.com/office/drawing/2014/main" id="{78308600-8F1E-6C1F-91F4-D6076EF50DE8}"/>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93C6CB34-9FC3-5312-7080-E264338FC713}"/>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8EB8081-2567-3035-0862-4FF1702D01DF}"/>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704CCCC0-F425-9B12-9FE5-909F789836C6}"/>
              </a:ext>
            </a:extLst>
          </p:cNvPr>
          <p:cNvSpPr txBox="1"/>
          <p:nvPr/>
        </p:nvSpPr>
        <p:spPr>
          <a:xfrm>
            <a:off x="-804412" y="509217"/>
            <a:ext cx="10208080"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ANALISIS EXPLORATORIO DE DATOS</a:t>
            </a:r>
          </a:p>
        </p:txBody>
      </p:sp>
      <p:pic>
        <p:nvPicPr>
          <p:cNvPr id="13" name="Imagen 12">
            <a:extLst>
              <a:ext uri="{FF2B5EF4-FFF2-40B4-BE49-F238E27FC236}">
                <a16:creationId xmlns:a16="http://schemas.microsoft.com/office/drawing/2014/main" id="{7E7B93F8-04F9-32CC-4E91-18F2751DFC73}"/>
              </a:ext>
            </a:extLst>
          </p:cNvPr>
          <p:cNvPicPr>
            <a:picLocks noChangeAspect="1"/>
          </p:cNvPicPr>
          <p:nvPr/>
        </p:nvPicPr>
        <p:blipFill>
          <a:blip r:embed="rId3"/>
          <a:stretch>
            <a:fillRect/>
          </a:stretch>
        </p:blipFill>
        <p:spPr>
          <a:xfrm>
            <a:off x="168727" y="1588995"/>
            <a:ext cx="6564086" cy="5107398"/>
          </a:xfrm>
          <a:prstGeom prst="rect">
            <a:avLst/>
          </a:prstGeom>
        </p:spPr>
      </p:pic>
      <p:sp>
        <p:nvSpPr>
          <p:cNvPr id="15" name="CuadroTexto 14">
            <a:extLst>
              <a:ext uri="{FF2B5EF4-FFF2-40B4-BE49-F238E27FC236}">
                <a16:creationId xmlns:a16="http://schemas.microsoft.com/office/drawing/2014/main" id="{0A43FBD1-A821-6AC0-20E8-5BA4A0AFD3EA}"/>
              </a:ext>
            </a:extLst>
          </p:cNvPr>
          <p:cNvSpPr txBox="1"/>
          <p:nvPr/>
        </p:nvSpPr>
        <p:spPr>
          <a:xfrm>
            <a:off x="6871605" y="2099332"/>
            <a:ext cx="5012873" cy="3693319"/>
          </a:xfrm>
          <a:prstGeom prst="rect">
            <a:avLst/>
          </a:prstGeom>
          <a:noFill/>
        </p:spPr>
        <p:txBody>
          <a:bodyPr wrap="square">
            <a:spAutoFit/>
          </a:bodyPr>
          <a:lstStyle/>
          <a:p>
            <a:r>
              <a:rPr lang="es-CO" dirty="0">
                <a:latin typeface="ADLaM Display" panose="02010000000000000000" pitchFamily="2" charset="77"/>
                <a:ea typeface="ADLaM Display" panose="02010000000000000000" pitchFamily="2" charset="77"/>
                <a:cs typeface="ADLaM Display" panose="02010000000000000000" pitchFamily="2" charset="77"/>
              </a:rPr>
              <a:t>-Existe una fuerte correlación negativa (-1.0) entre Apalancamiento y Autonomía Financiera, lo que confirma que, a mayor deuda, menor independencia patrimonial.</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dirty="0">
                <a:latin typeface="ADLaM Display" panose="02010000000000000000" pitchFamily="2" charset="77"/>
                <a:ea typeface="ADLaM Display" panose="02010000000000000000" pitchFamily="2" charset="77"/>
                <a:cs typeface="ADLaM Display" panose="02010000000000000000" pitchFamily="2" charset="77"/>
              </a:rPr>
              <a:t>-La Liquidez se asocia positivamente con la Autonomía Financiera (0.46) y con el Margen Neto (0.57), lo que sugiere que empresas más líquidas suelen ser más rentables y menos endeudadas.</a:t>
            </a:r>
          </a:p>
          <a:p>
            <a:endParaRPr lang="es-CO" dirty="0">
              <a:latin typeface="ADLaM Display" panose="02010000000000000000" pitchFamily="2" charset="77"/>
              <a:ea typeface="ADLaM Display" panose="02010000000000000000" pitchFamily="2" charset="77"/>
              <a:cs typeface="ADLaM Display" panose="02010000000000000000" pitchFamily="2" charset="77"/>
            </a:endParaRPr>
          </a:p>
          <a:p>
            <a:r>
              <a:rPr lang="es-CO" dirty="0">
                <a:latin typeface="ADLaM Display" panose="02010000000000000000" pitchFamily="2" charset="77"/>
                <a:ea typeface="ADLaM Display" panose="02010000000000000000" pitchFamily="2" charset="77"/>
                <a:cs typeface="ADLaM Display" panose="02010000000000000000" pitchFamily="2" charset="77"/>
              </a:rPr>
              <a:t>-ROA y ROE presentan correlación positiva (0.50).</a:t>
            </a:r>
          </a:p>
        </p:txBody>
      </p:sp>
    </p:spTree>
    <p:extLst>
      <p:ext uri="{BB962C8B-B14F-4D97-AF65-F5344CB8AC3E}">
        <p14:creationId xmlns:p14="http://schemas.microsoft.com/office/powerpoint/2010/main" val="388073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9B6F-5D64-FD12-189A-1604DA73EC3D}"/>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83A0FDF9-5DE0-B131-C523-C89F8C4F78E3}"/>
              </a:ext>
            </a:extLst>
          </p:cNvPr>
          <p:cNvGrpSpPr/>
          <p:nvPr/>
        </p:nvGrpSpPr>
        <p:grpSpPr>
          <a:xfrm>
            <a:off x="0" y="23949"/>
            <a:ext cx="12192000" cy="6836974"/>
            <a:chOff x="0" y="0"/>
            <a:chExt cx="12192000" cy="6836974"/>
          </a:xfrm>
        </p:grpSpPr>
        <p:pic>
          <p:nvPicPr>
            <p:cNvPr id="2" name="Imagen 1">
              <a:extLst>
                <a:ext uri="{FF2B5EF4-FFF2-40B4-BE49-F238E27FC236}">
                  <a16:creationId xmlns:a16="http://schemas.microsoft.com/office/drawing/2014/main" id="{0BB15B8C-F19C-A987-C3BD-698F82EE8BA8}"/>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03E7E3D9-1F47-FD04-889E-3B017CA5E270}"/>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D1DBBB77-2F39-60D8-17BC-7306B25A86A3}"/>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4E44154C-4CF2-5174-2B87-979DAF5E5EA4}"/>
              </a:ext>
            </a:extLst>
          </p:cNvPr>
          <p:cNvSpPr txBox="1"/>
          <p:nvPr/>
        </p:nvSpPr>
        <p:spPr>
          <a:xfrm>
            <a:off x="-249241" y="504024"/>
            <a:ext cx="10208080" cy="646331"/>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ANALISIS DE VARIABLES NO NUMERICAS</a:t>
            </a:r>
          </a:p>
        </p:txBody>
      </p:sp>
      <p:pic>
        <p:nvPicPr>
          <p:cNvPr id="3074" name="Picture 2">
            <a:extLst>
              <a:ext uri="{FF2B5EF4-FFF2-40B4-BE49-F238E27FC236}">
                <a16:creationId xmlns:a16="http://schemas.microsoft.com/office/drawing/2014/main" id="{7D83308A-8A25-DA07-2C84-7C324D755E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08" y="1501411"/>
            <a:ext cx="5609490" cy="278137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4D04C2BD-6B2A-A8F9-3981-E6AE9C658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0759" y="4282783"/>
            <a:ext cx="2581793" cy="24901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225595BA-93F7-DE4F-B31A-D43C7DB3F9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501411"/>
            <a:ext cx="4502331" cy="278202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07F2E9A8-8C6A-03A3-02DF-7FB84A7943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508" y="4369810"/>
            <a:ext cx="3889123" cy="240311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1A0E8A0F-6BFC-1132-9798-701A2B20AA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56901" y="4136480"/>
            <a:ext cx="3406940" cy="2721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128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12C54-E9E3-15A2-4C16-5395EB301962}"/>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8C44EA72-89D2-266C-7D0C-9F0776BA7A46}"/>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D8D5B5E0-BD58-58BD-351C-8BB1E55E3ECC}"/>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62BF5D9A-1088-5766-6BC4-CE7F00BCD52F}"/>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9FCA676-3968-2F1B-0A5C-8F69849B7A91}"/>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B8698235-81B9-869A-D1BA-B93E7103FF15}"/>
              </a:ext>
            </a:extLst>
          </p:cNvPr>
          <p:cNvSpPr txBox="1"/>
          <p:nvPr/>
        </p:nvSpPr>
        <p:spPr>
          <a:xfrm>
            <a:off x="190980" y="548394"/>
            <a:ext cx="10208080" cy="646331"/>
          </a:xfrm>
          <a:prstGeom prst="rect">
            <a:avLst/>
          </a:prstGeom>
          <a:noFill/>
        </p:spPr>
        <p:txBody>
          <a:bodyPr wrap="square" rtlCol="0">
            <a:spAutoFit/>
          </a:bodyPr>
          <a:lstStyle/>
          <a:p>
            <a:r>
              <a:rPr lang="es-CO" sz="3600" dirty="0">
                <a:latin typeface="ADLaM Display" panose="020F0502020204030204" pitchFamily="34" charset="0"/>
                <a:cs typeface="ADLaM Display" panose="020F0502020204030204" pitchFamily="34" charset="0"/>
              </a:rPr>
              <a:t>MODELO A USAR : K-</a:t>
            </a:r>
            <a:r>
              <a:rPr lang="es-CO" sz="3600" dirty="0" err="1">
                <a:latin typeface="ADLaM Display" panose="020F0502020204030204" pitchFamily="34" charset="0"/>
                <a:cs typeface="ADLaM Display" panose="020F0502020204030204" pitchFamily="34" charset="0"/>
              </a:rPr>
              <a:t>Means</a:t>
            </a:r>
            <a:endParaRPr lang="es-CO" sz="3600" dirty="0">
              <a:latin typeface="ADLaM Display" panose="020F0502020204030204" pitchFamily="34" charset="0"/>
              <a:cs typeface="ADLaM Display" panose="020F050202020403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18F28926-7CA7-BFE8-615C-247BB530ACC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0450" y="1636738"/>
            <a:ext cx="5661977" cy="3036307"/>
          </a:xfrm>
          <a:prstGeom prst="rect">
            <a:avLst/>
          </a:prstGeom>
          <a:noFill/>
          <a:ln>
            <a:noFill/>
          </a:ln>
        </p:spPr>
      </p:pic>
      <p:pic>
        <p:nvPicPr>
          <p:cNvPr id="8" name="Imagen 7" descr="Gráfico, Gráfico de líneas&#10;&#10;El contenido generado por IA puede ser incorrecto.">
            <a:extLst>
              <a:ext uri="{FF2B5EF4-FFF2-40B4-BE49-F238E27FC236}">
                <a16:creationId xmlns:a16="http://schemas.microsoft.com/office/drawing/2014/main" id="{72D86686-4F51-1D9B-0515-D32593207E4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1155" y="3273299"/>
            <a:ext cx="5661978" cy="3110161"/>
          </a:xfrm>
          <a:prstGeom prst="rect">
            <a:avLst/>
          </a:prstGeom>
          <a:noFill/>
          <a:ln>
            <a:noFill/>
          </a:ln>
        </p:spPr>
      </p:pic>
    </p:spTree>
    <p:extLst>
      <p:ext uri="{BB962C8B-B14F-4D97-AF65-F5344CB8AC3E}">
        <p14:creationId xmlns:p14="http://schemas.microsoft.com/office/powerpoint/2010/main" val="3048591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E858-24B1-2421-DB44-907192A4658F}"/>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2C8BE5DF-32E2-2E36-BDCC-9624276C15E8}"/>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4947993B-FD60-E10A-DA78-DCFA40268F7B}"/>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3BAA50BB-E0D9-CFB9-F907-DD9CB2080727}"/>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6FE4CBF-D742-72C6-CC77-F884B01CD88D}"/>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F6EB1A40-5609-4CD1-CF28-2074806B4328}"/>
              </a:ext>
            </a:extLst>
          </p:cNvPr>
          <p:cNvSpPr txBox="1"/>
          <p:nvPr/>
        </p:nvSpPr>
        <p:spPr>
          <a:xfrm>
            <a:off x="190980" y="548394"/>
            <a:ext cx="10208080" cy="646331"/>
          </a:xfrm>
          <a:prstGeom prst="rect">
            <a:avLst/>
          </a:prstGeom>
          <a:noFill/>
        </p:spPr>
        <p:txBody>
          <a:bodyPr wrap="square" rtlCol="0">
            <a:spAutoFit/>
          </a:bodyPr>
          <a:lstStyle/>
          <a:p>
            <a:r>
              <a:rPr lang="es-CO" sz="3600" dirty="0">
                <a:latin typeface="ADLaM Display" panose="020F0502020204030204" pitchFamily="34" charset="0"/>
                <a:cs typeface="ADLaM Display" panose="020F0502020204030204" pitchFamily="34" charset="0"/>
              </a:rPr>
              <a:t>Resultados del K-</a:t>
            </a:r>
            <a:r>
              <a:rPr lang="es-CO" sz="3600" dirty="0" err="1">
                <a:latin typeface="ADLaM Display" panose="020F0502020204030204" pitchFamily="34" charset="0"/>
                <a:cs typeface="ADLaM Display" panose="020F0502020204030204" pitchFamily="34" charset="0"/>
              </a:rPr>
              <a:t>Means</a:t>
            </a:r>
            <a:endParaRPr lang="es-CO" sz="3600" dirty="0">
              <a:latin typeface="ADLaM Display" panose="020F0502020204030204" pitchFamily="34" charset="0"/>
              <a:cs typeface="ADLaM Display" panose="020F050202020403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8BFDB4DE-65D1-CDD8-9221-5A74348EE8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0450" y="1636738"/>
            <a:ext cx="5661977" cy="3036307"/>
          </a:xfrm>
          <a:prstGeom prst="rect">
            <a:avLst/>
          </a:prstGeom>
          <a:noFill/>
          <a:ln>
            <a:noFill/>
          </a:ln>
        </p:spPr>
      </p:pic>
      <p:pic>
        <p:nvPicPr>
          <p:cNvPr id="8" name="Imagen 7" descr="Gráfico, Gráfico de líneas&#10;&#10;El contenido generado por IA puede ser incorrecto.">
            <a:extLst>
              <a:ext uri="{FF2B5EF4-FFF2-40B4-BE49-F238E27FC236}">
                <a16:creationId xmlns:a16="http://schemas.microsoft.com/office/drawing/2014/main" id="{E74C983F-5C23-D76F-9549-7EE86F7F335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1155" y="3273299"/>
            <a:ext cx="5661978" cy="3110161"/>
          </a:xfrm>
          <a:prstGeom prst="rect">
            <a:avLst/>
          </a:prstGeom>
          <a:noFill/>
          <a:ln>
            <a:noFill/>
          </a:ln>
        </p:spPr>
      </p:pic>
    </p:spTree>
    <p:extLst>
      <p:ext uri="{BB962C8B-B14F-4D97-AF65-F5344CB8AC3E}">
        <p14:creationId xmlns:p14="http://schemas.microsoft.com/office/powerpoint/2010/main" val="2695013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EB4CB-C6C2-9D2C-1673-FF3B9A51FF10}"/>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BCD2D674-2596-5CE5-D69D-7C75CC37CDE9}"/>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1575BDFA-13DE-7C8E-93A4-448427E1F413}"/>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E40BC25F-02F6-7774-78A0-49AFB2DE4267}"/>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CF5E77C8-97E3-4122-50E0-5DD710BD2B13}"/>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04C917B5-D8E8-9EF3-3EAF-8A154D098558}"/>
              </a:ext>
            </a:extLst>
          </p:cNvPr>
          <p:cNvSpPr txBox="1"/>
          <p:nvPr/>
        </p:nvSpPr>
        <p:spPr>
          <a:xfrm>
            <a:off x="190980" y="548394"/>
            <a:ext cx="10208080" cy="646331"/>
          </a:xfrm>
          <a:prstGeom prst="rect">
            <a:avLst/>
          </a:prstGeom>
          <a:noFill/>
        </p:spPr>
        <p:txBody>
          <a:bodyPr wrap="square" rtlCol="0">
            <a:spAutoFit/>
          </a:bodyPr>
          <a:lstStyle/>
          <a:p>
            <a:r>
              <a:rPr lang="es-CO" sz="3600" dirty="0">
                <a:latin typeface="ADLaM Display" panose="020F0502020204030204" pitchFamily="34" charset="0"/>
                <a:cs typeface="ADLaM Display" panose="020F0502020204030204" pitchFamily="34" charset="0"/>
              </a:rPr>
              <a:t>Resultados del K-</a:t>
            </a:r>
            <a:r>
              <a:rPr lang="es-CO" sz="3600" dirty="0" err="1">
                <a:latin typeface="ADLaM Display" panose="020F0502020204030204" pitchFamily="34" charset="0"/>
                <a:cs typeface="ADLaM Display" panose="020F0502020204030204" pitchFamily="34" charset="0"/>
              </a:rPr>
              <a:t>Means</a:t>
            </a:r>
            <a:endParaRPr lang="es-CO" sz="3600" dirty="0">
              <a:latin typeface="ADLaM Display" panose="020F0502020204030204" pitchFamily="34" charset="0"/>
              <a:cs typeface="ADLaM Display" panose="020F0502020204030204" pitchFamily="34" charset="0"/>
            </a:endParaRPr>
          </a:p>
        </p:txBody>
      </p:sp>
      <p:pic>
        <p:nvPicPr>
          <p:cNvPr id="9" name="Imagen 8" descr="Interfaz de usuario gráfica&#10;&#10;El contenido generado por IA puede ser incorrecto.">
            <a:extLst>
              <a:ext uri="{FF2B5EF4-FFF2-40B4-BE49-F238E27FC236}">
                <a16:creationId xmlns:a16="http://schemas.microsoft.com/office/drawing/2014/main" id="{C7077606-44ED-51C8-C4FF-9E2C5206A943}"/>
              </a:ext>
            </a:extLst>
          </p:cNvPr>
          <p:cNvPicPr>
            <a:picLocks noChangeAspect="1"/>
          </p:cNvPicPr>
          <p:nvPr/>
        </p:nvPicPr>
        <p:blipFill>
          <a:blip r:embed="rId3"/>
          <a:stretch>
            <a:fillRect/>
          </a:stretch>
        </p:blipFill>
        <p:spPr>
          <a:xfrm>
            <a:off x="596519" y="2393607"/>
            <a:ext cx="10963581" cy="2569614"/>
          </a:xfrm>
          <a:prstGeom prst="rect">
            <a:avLst/>
          </a:prstGeom>
        </p:spPr>
      </p:pic>
    </p:spTree>
    <p:extLst>
      <p:ext uri="{BB962C8B-B14F-4D97-AF65-F5344CB8AC3E}">
        <p14:creationId xmlns:p14="http://schemas.microsoft.com/office/powerpoint/2010/main" val="1623702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3BDEE-51E0-A5D7-7DD9-6C85A3C87BE8}"/>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1BA10ADE-2D71-BDAF-CE34-6A90A1784F69}"/>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DABE89E7-9FFF-7554-129B-675B9D62EA8F}"/>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468E96E4-E41D-9082-7FD3-992579D45A78}"/>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081F54CE-FFA8-8EBC-1895-0DFCCC22CF36}"/>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89B15265-A2B8-724F-0786-EF8ACB45BEFE}"/>
              </a:ext>
            </a:extLst>
          </p:cNvPr>
          <p:cNvSpPr txBox="1"/>
          <p:nvPr/>
        </p:nvSpPr>
        <p:spPr>
          <a:xfrm>
            <a:off x="190500" y="527331"/>
            <a:ext cx="10208080" cy="646331"/>
          </a:xfrm>
          <a:prstGeom prst="rect">
            <a:avLst/>
          </a:prstGeom>
          <a:noFill/>
        </p:spPr>
        <p:txBody>
          <a:bodyPr wrap="square" rtlCol="0">
            <a:spAutoFit/>
          </a:bodyPr>
          <a:lstStyle/>
          <a:p>
            <a:r>
              <a:rPr lang="es-CO" sz="3600" dirty="0">
                <a:latin typeface="ADLaM Display" panose="020F0502020204030204" pitchFamily="34" charset="0"/>
                <a:cs typeface="ADLaM Display" panose="020F0502020204030204" pitchFamily="34" charset="0"/>
              </a:rPr>
              <a:t>Análisis grafico</a:t>
            </a:r>
          </a:p>
        </p:txBody>
      </p:sp>
      <p:pic>
        <p:nvPicPr>
          <p:cNvPr id="7" name="Imagen 6" descr="Gráfico, Gráfico de dispersión&#10;&#10;El contenido generado por IA puede ser incorrecto.">
            <a:extLst>
              <a:ext uri="{FF2B5EF4-FFF2-40B4-BE49-F238E27FC236}">
                <a16:creationId xmlns:a16="http://schemas.microsoft.com/office/drawing/2014/main" id="{C7180329-ED50-C0CD-4D44-212B51171A1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122" y="1917158"/>
            <a:ext cx="5749117" cy="3988500"/>
          </a:xfrm>
          <a:prstGeom prst="rect">
            <a:avLst/>
          </a:prstGeom>
          <a:noFill/>
          <a:ln>
            <a:noFill/>
          </a:ln>
        </p:spPr>
      </p:pic>
      <p:pic>
        <p:nvPicPr>
          <p:cNvPr id="8" name="Imagen 7" descr="Gráfico, Gráfico de dispersión&#10;&#10;El contenido generado por IA puede ser incorrecto.">
            <a:extLst>
              <a:ext uri="{FF2B5EF4-FFF2-40B4-BE49-F238E27FC236}">
                <a16:creationId xmlns:a16="http://schemas.microsoft.com/office/drawing/2014/main" id="{02518940-B518-2DC4-F393-1516C9B3F7A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59361" y="1917158"/>
            <a:ext cx="5749859" cy="3988500"/>
          </a:xfrm>
          <a:prstGeom prst="rect">
            <a:avLst/>
          </a:prstGeom>
          <a:noFill/>
          <a:ln>
            <a:noFill/>
          </a:ln>
        </p:spPr>
      </p:pic>
    </p:spTree>
    <p:extLst>
      <p:ext uri="{BB962C8B-B14F-4D97-AF65-F5344CB8AC3E}">
        <p14:creationId xmlns:p14="http://schemas.microsoft.com/office/powerpoint/2010/main" val="3562401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8C520-14AF-0727-5A04-4E6D36EA9B4C}"/>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AF8DB1B4-CD50-2785-F5AD-7EAA9BC345D8}"/>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02490A0E-8DBD-D3E9-6842-DECD27FB4EA1}"/>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081CE116-BE37-3FCB-7B2F-9C12EF6F3A8B}"/>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04F0D525-E156-77BA-46AE-FCEC0C9BE892}"/>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885D07F5-D9B0-624B-DC86-5E9F37767B0B}"/>
              </a:ext>
            </a:extLst>
          </p:cNvPr>
          <p:cNvSpPr txBox="1"/>
          <p:nvPr/>
        </p:nvSpPr>
        <p:spPr>
          <a:xfrm>
            <a:off x="190500" y="527331"/>
            <a:ext cx="10208080" cy="646331"/>
          </a:xfrm>
          <a:prstGeom prst="rect">
            <a:avLst/>
          </a:prstGeom>
          <a:noFill/>
        </p:spPr>
        <p:txBody>
          <a:bodyPr wrap="square" rtlCol="0">
            <a:spAutoFit/>
          </a:bodyPr>
          <a:lstStyle/>
          <a:p>
            <a:r>
              <a:rPr lang="es-CO" sz="3600" dirty="0">
                <a:latin typeface="ADLaM Display" panose="020F0502020204030204" pitchFamily="34" charset="0"/>
                <a:cs typeface="ADLaM Display" panose="020F0502020204030204" pitchFamily="34" charset="0"/>
              </a:rPr>
              <a:t>Análisis grafico</a:t>
            </a:r>
          </a:p>
        </p:txBody>
      </p:sp>
      <p:pic>
        <p:nvPicPr>
          <p:cNvPr id="11" name="Imagen 10" descr="Gráfico, Gráfico de líneas&#10;&#10;El contenido generado por IA puede ser incorrecto.">
            <a:extLst>
              <a:ext uri="{FF2B5EF4-FFF2-40B4-BE49-F238E27FC236}">
                <a16:creationId xmlns:a16="http://schemas.microsoft.com/office/drawing/2014/main" id="{0263826D-C4B8-8CA4-57D9-58F4E7E952E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464" y="1783801"/>
            <a:ext cx="5712908" cy="3963347"/>
          </a:xfrm>
          <a:prstGeom prst="rect">
            <a:avLst/>
          </a:prstGeom>
          <a:noFill/>
          <a:ln>
            <a:noFill/>
          </a:ln>
        </p:spPr>
      </p:pic>
      <p:pic>
        <p:nvPicPr>
          <p:cNvPr id="12" name="Imagen 11" descr="Gráfico&#10;&#10;El contenido generado por IA puede ser incorrecto.">
            <a:extLst>
              <a:ext uri="{FF2B5EF4-FFF2-40B4-BE49-F238E27FC236}">
                <a16:creationId xmlns:a16="http://schemas.microsoft.com/office/drawing/2014/main" id="{D6B81AB8-470E-C194-078B-0BF3EDC78DD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34099" y="1783801"/>
            <a:ext cx="5648909" cy="3963347"/>
          </a:xfrm>
          <a:prstGeom prst="rect">
            <a:avLst/>
          </a:prstGeom>
          <a:noFill/>
          <a:ln>
            <a:noFill/>
          </a:ln>
        </p:spPr>
      </p:pic>
    </p:spTree>
    <p:extLst>
      <p:ext uri="{BB962C8B-B14F-4D97-AF65-F5344CB8AC3E}">
        <p14:creationId xmlns:p14="http://schemas.microsoft.com/office/powerpoint/2010/main" val="203268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255A2-FAEE-03A5-378F-BE3C1637DC33}"/>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434C9980-D6BE-F087-E3D7-6A749C412DB6}"/>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E9ED0925-94DC-8538-3962-9A332569A5CC}"/>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B8E928B8-D667-6EE5-4C59-5730B986D325}"/>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FFBE678C-2524-9CB9-91DE-A94A7EA6E72C}"/>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83B7E3B7-64BE-C27F-4987-681056FA8721}"/>
              </a:ext>
            </a:extLst>
          </p:cNvPr>
          <p:cNvSpPr txBox="1"/>
          <p:nvPr/>
        </p:nvSpPr>
        <p:spPr>
          <a:xfrm>
            <a:off x="408992" y="211455"/>
            <a:ext cx="10208080" cy="1754326"/>
          </a:xfrm>
          <a:prstGeom prst="rect">
            <a:avLst/>
          </a:prstGeom>
          <a:noFill/>
        </p:spPr>
        <p:txBody>
          <a:bodyPr wrap="square" rtlCol="0">
            <a:spAutoFit/>
          </a:bodyPr>
          <a:lstStyle/>
          <a:p>
            <a:r>
              <a:rPr lang="es-CO" sz="3600" b="1" kern="100" dirty="0">
                <a:effectLst/>
                <a:latin typeface="ADLaM Display" panose="02010000000000000000" pitchFamily="2" charset="77"/>
                <a:ea typeface="ADLaM Display" panose="02010000000000000000" pitchFamily="2" charset="77"/>
                <a:cs typeface="ADLaM Display" panose="02010000000000000000" pitchFamily="2" charset="77"/>
              </a:rPr>
              <a:t>Interpretación de </a:t>
            </a:r>
            <a:r>
              <a:rPr lang="es-CO" sz="3600" b="1" kern="100" dirty="0" err="1">
                <a:effectLst/>
                <a:latin typeface="ADLaM Display" panose="02010000000000000000" pitchFamily="2" charset="77"/>
                <a:ea typeface="ADLaM Display" panose="02010000000000000000" pitchFamily="2" charset="77"/>
                <a:cs typeface="ADLaM Display" panose="02010000000000000000" pitchFamily="2" charset="77"/>
              </a:rPr>
              <a:t>Clusters</a:t>
            </a:r>
            <a:r>
              <a:rPr lang="es-CO" sz="3600" b="1" kern="100" dirty="0">
                <a:effectLst/>
                <a:latin typeface="ADLaM Display" panose="02010000000000000000" pitchFamily="2" charset="77"/>
                <a:ea typeface="ADLaM Display" panose="02010000000000000000" pitchFamily="2" charset="77"/>
                <a:cs typeface="ADLaM Display" panose="02010000000000000000" pitchFamily="2" charset="77"/>
              </a:rPr>
              <a:t>: Perfiles de Riesgo y Solvencia</a:t>
            </a:r>
            <a:endParaRPr lang="es-CO" sz="3600" kern="100" dirty="0">
              <a:effectLst/>
              <a:latin typeface="ADLaM Display" panose="02010000000000000000" pitchFamily="2" charset="77"/>
              <a:ea typeface="ADLaM Display" panose="02010000000000000000" pitchFamily="2" charset="77"/>
              <a:cs typeface="ADLaM Display" panose="02010000000000000000" pitchFamily="2" charset="77"/>
            </a:endParaRPr>
          </a:p>
          <a:p>
            <a:endParaRPr lang="es-CO" sz="3600" dirty="0">
              <a:latin typeface="ADLaM Display" panose="020F0502020204030204" pitchFamily="34" charset="0"/>
              <a:cs typeface="ADLaM Display" panose="020F0502020204030204" pitchFamily="34" charset="0"/>
            </a:endParaRPr>
          </a:p>
        </p:txBody>
      </p:sp>
      <p:sp>
        <p:nvSpPr>
          <p:cNvPr id="8" name="CuadroTexto 7">
            <a:extLst>
              <a:ext uri="{FF2B5EF4-FFF2-40B4-BE49-F238E27FC236}">
                <a16:creationId xmlns:a16="http://schemas.microsoft.com/office/drawing/2014/main" id="{B53AA0DA-4319-DE52-7F2D-835D03124398}"/>
              </a:ext>
            </a:extLst>
          </p:cNvPr>
          <p:cNvSpPr txBox="1"/>
          <p:nvPr/>
        </p:nvSpPr>
        <p:spPr>
          <a:xfrm>
            <a:off x="408992" y="1636738"/>
            <a:ext cx="5234162" cy="2082686"/>
          </a:xfrm>
          <a:prstGeom prst="rect">
            <a:avLst/>
          </a:prstGeom>
          <a:noFill/>
        </p:spPr>
        <p:txBody>
          <a:bodyPr wrap="square">
            <a:spAutoFit/>
          </a:bodyPr>
          <a:lstStyle/>
          <a:p>
            <a:pPr>
              <a:lnSpc>
                <a:spcPct val="115000"/>
              </a:lnSpc>
              <a:spcAft>
                <a:spcPts val="800"/>
              </a:spcAft>
            </a:pP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0: Las "Empresas Modelo" (Equilibrio)</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Ingresos estables, alta liquidez (3.7) y rentabilidad sólida(18%). Representan a la empresa madura, bien administrada y con balances sanos.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MUY BAJA.</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Son las más seguras del mercado. Tienen un "colchón" financiero grande para soportar crisis, recesiones o caídas en ventas sin entrar en pánico.</a:t>
            </a:r>
          </a:p>
        </p:txBody>
      </p:sp>
      <p:sp>
        <p:nvSpPr>
          <p:cNvPr id="10" name="CuadroTexto 9">
            <a:extLst>
              <a:ext uri="{FF2B5EF4-FFF2-40B4-BE49-F238E27FC236}">
                <a16:creationId xmlns:a16="http://schemas.microsoft.com/office/drawing/2014/main" id="{E0DEED4F-6736-DAAF-EB03-CE72FC9A966C}"/>
              </a:ext>
            </a:extLst>
          </p:cNvPr>
          <p:cNvSpPr txBox="1"/>
          <p:nvPr/>
        </p:nvSpPr>
        <p:spPr>
          <a:xfrm>
            <a:off x="6216335" y="1636738"/>
            <a:ext cx="5116773" cy="2295052"/>
          </a:xfrm>
          <a:prstGeom prst="rect">
            <a:avLst/>
          </a:prstGeom>
          <a:noFill/>
        </p:spPr>
        <p:txBody>
          <a:bodyPr wrap="square">
            <a:spAutoFit/>
          </a:bodyPr>
          <a:lstStyle/>
          <a:p>
            <a:pPr>
              <a:lnSpc>
                <a:spcPct val="115000"/>
              </a:lnSpc>
              <a:spcAft>
                <a:spcPts val="800"/>
              </a:spcAf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1: Los "Comerciantes de Volumen"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Retail</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/Mayoristas)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Rotación de activos altísima (8.8x) pero márgenes de ganancia mínimos (1%). Viven del flujo constante de caja y no del margen por producto.</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MODERADA.</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Su riesgo es puramente operativo. Si el consumo baja o la cadena de suministro falla, entran en pérdidas inmediatamente porque no tienen margen de error en sus precios</a:t>
            </a:r>
          </a:p>
        </p:txBody>
      </p:sp>
      <p:sp>
        <p:nvSpPr>
          <p:cNvPr id="14" name="CuadroTexto 13">
            <a:extLst>
              <a:ext uri="{FF2B5EF4-FFF2-40B4-BE49-F238E27FC236}">
                <a16:creationId xmlns:a16="http://schemas.microsoft.com/office/drawing/2014/main" id="{D7D41326-8B0D-8C9B-093A-B2493F765D62}"/>
              </a:ext>
            </a:extLst>
          </p:cNvPr>
          <p:cNvSpPr txBox="1"/>
          <p:nvPr/>
        </p:nvSpPr>
        <p:spPr>
          <a:xfrm>
            <a:off x="408992" y="4117599"/>
            <a:ext cx="5095337" cy="2295052"/>
          </a:xfrm>
          <a:prstGeom prst="rect">
            <a:avLst/>
          </a:prstGeom>
          <a:noFill/>
        </p:spPr>
        <p:txBody>
          <a:bodyPr wrap="square">
            <a:spAutoFit/>
          </a:bodyPr>
          <a:lstStyle/>
          <a:p>
            <a:pPr>
              <a:lnSpc>
                <a:spcPct val="115000"/>
              </a:lnSpc>
              <a:spcAft>
                <a:spcPts val="800"/>
              </a:spcAf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2: Las "Cajas de Efectivo" (Holdings)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Liquidez extrema (48.5) y casi cero deuda. Generalmente son holdings de inversión o empresas patrimoniales que reciben rentas y dividendos sin grandes costos operativos.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NULA.</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Son el grupo más seguro de todos. No tienen deudas que las presionen y tienen efectivo de sobra. Financieramente son "indestructibles" en el corto plazo.</a:t>
            </a:r>
          </a:p>
        </p:txBody>
      </p:sp>
      <p:sp>
        <p:nvSpPr>
          <p:cNvPr id="16" name="CuadroTexto 15">
            <a:extLst>
              <a:ext uri="{FF2B5EF4-FFF2-40B4-BE49-F238E27FC236}">
                <a16:creationId xmlns:a16="http://schemas.microsoft.com/office/drawing/2014/main" id="{3E4F26FB-DE63-0E28-9B83-61DF329B208B}"/>
              </a:ext>
            </a:extLst>
          </p:cNvPr>
          <p:cNvSpPr txBox="1"/>
          <p:nvPr/>
        </p:nvSpPr>
        <p:spPr>
          <a:xfrm>
            <a:off x="6216335" y="4343944"/>
            <a:ext cx="5116773" cy="2295052"/>
          </a:xfrm>
          <a:prstGeom prst="rect">
            <a:avLst/>
          </a:prstGeom>
          <a:noFill/>
        </p:spPr>
        <p:txBody>
          <a:bodyPr wrap="square">
            <a:spAutoFit/>
          </a:bodyPr>
          <a:lstStyle/>
          <a:p>
            <a:pPr>
              <a:lnSpc>
                <a:spcPct val="115000"/>
              </a:lnSpc>
              <a:spcAft>
                <a:spcPts val="800"/>
              </a:spcAf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3: La "Industria Apretada" (Operativas)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Márgenes bajos y apalancamiento medio-alto. Empresas que trabajan mucho para ganar poco y dependen del crédito para operar (Manufactura, Construcción).</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MEDIA-ALTA.</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Están en la cuerda floja. Son muy sensibles a subidas de tasas de interés (porque deben dinero) o inflación de insumos. Un mal año económico podría obligarlas a reestructurar deudas.</a:t>
            </a:r>
          </a:p>
        </p:txBody>
      </p:sp>
    </p:spTree>
    <p:extLst>
      <p:ext uri="{BB962C8B-B14F-4D97-AF65-F5344CB8AC3E}">
        <p14:creationId xmlns:p14="http://schemas.microsoft.com/office/powerpoint/2010/main" val="668771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06C7F-020F-8A27-B9C1-8A28E58DCF95}"/>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CC340CEC-8C0E-8A9E-1217-5BA10C9FAF3A}"/>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D2A9AEA2-B3CF-D8D7-80C1-E08F7BDDCFA1}"/>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B4B6F0E2-2C39-D059-7442-ED16C1EFAE00}"/>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45ED4A7-2BAE-16E9-2016-2B0D046DE0A5}"/>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63AD6D4A-91EB-D365-8792-0BB294E4DB98}"/>
              </a:ext>
            </a:extLst>
          </p:cNvPr>
          <p:cNvSpPr txBox="1"/>
          <p:nvPr/>
        </p:nvSpPr>
        <p:spPr>
          <a:xfrm>
            <a:off x="408992" y="211455"/>
            <a:ext cx="10208080" cy="1754326"/>
          </a:xfrm>
          <a:prstGeom prst="rect">
            <a:avLst/>
          </a:prstGeom>
          <a:noFill/>
        </p:spPr>
        <p:txBody>
          <a:bodyPr wrap="square" rtlCol="0">
            <a:spAutoFit/>
          </a:bodyPr>
          <a:lstStyle/>
          <a:p>
            <a:r>
              <a:rPr lang="es-CO" sz="3600" b="1" kern="100" dirty="0">
                <a:effectLst/>
                <a:latin typeface="ADLaM Display" panose="02010000000000000000" pitchFamily="2" charset="77"/>
                <a:ea typeface="ADLaM Display" panose="02010000000000000000" pitchFamily="2" charset="77"/>
                <a:cs typeface="ADLaM Display" panose="02010000000000000000" pitchFamily="2" charset="77"/>
              </a:rPr>
              <a:t>Interpretación de </a:t>
            </a:r>
            <a:r>
              <a:rPr lang="es-CO" sz="3600" b="1" kern="100" dirty="0" err="1">
                <a:effectLst/>
                <a:latin typeface="ADLaM Display" panose="02010000000000000000" pitchFamily="2" charset="77"/>
                <a:ea typeface="ADLaM Display" panose="02010000000000000000" pitchFamily="2" charset="77"/>
                <a:cs typeface="ADLaM Display" panose="02010000000000000000" pitchFamily="2" charset="77"/>
              </a:rPr>
              <a:t>Clusters</a:t>
            </a:r>
            <a:r>
              <a:rPr lang="es-CO" sz="3600" b="1" kern="100" dirty="0">
                <a:effectLst/>
                <a:latin typeface="ADLaM Display" panose="02010000000000000000" pitchFamily="2" charset="77"/>
                <a:ea typeface="ADLaM Display" panose="02010000000000000000" pitchFamily="2" charset="77"/>
                <a:cs typeface="ADLaM Display" panose="02010000000000000000" pitchFamily="2" charset="77"/>
              </a:rPr>
              <a:t>: Perfiles de Riesgo y Solvencia</a:t>
            </a:r>
            <a:endParaRPr lang="es-CO" sz="3600" kern="100" dirty="0">
              <a:effectLst/>
              <a:latin typeface="ADLaM Display" panose="02010000000000000000" pitchFamily="2" charset="77"/>
              <a:ea typeface="ADLaM Display" panose="02010000000000000000" pitchFamily="2" charset="77"/>
              <a:cs typeface="ADLaM Display" panose="02010000000000000000" pitchFamily="2" charset="77"/>
            </a:endParaRPr>
          </a:p>
          <a:p>
            <a:endParaRPr lang="es-CO" sz="3600" dirty="0">
              <a:latin typeface="ADLaM Display" panose="020F0502020204030204" pitchFamily="34" charset="0"/>
              <a:cs typeface="ADLaM Display" panose="020F0502020204030204" pitchFamily="34" charset="0"/>
            </a:endParaRPr>
          </a:p>
        </p:txBody>
      </p:sp>
      <p:sp>
        <p:nvSpPr>
          <p:cNvPr id="9" name="CuadroTexto 8">
            <a:extLst>
              <a:ext uri="{FF2B5EF4-FFF2-40B4-BE49-F238E27FC236}">
                <a16:creationId xmlns:a16="http://schemas.microsoft.com/office/drawing/2014/main" id="{C6121205-4143-2A90-BFDA-EF35131477A2}"/>
              </a:ext>
            </a:extLst>
          </p:cNvPr>
          <p:cNvSpPr txBox="1"/>
          <p:nvPr/>
        </p:nvSpPr>
        <p:spPr>
          <a:xfrm>
            <a:off x="408992" y="1636738"/>
            <a:ext cx="5460242" cy="2082686"/>
          </a:xfrm>
          <a:prstGeom prst="rect">
            <a:avLst/>
          </a:prstGeom>
          <a:noFill/>
        </p:spPr>
        <p:txBody>
          <a:bodyPr wrap="square">
            <a:spAutoFit/>
          </a:bodyPr>
          <a:lstStyle/>
          <a:p>
            <a:pPr>
              <a:lnSpc>
                <a:spcPct val="115000"/>
              </a:lnSpc>
              <a:spcAft>
                <a:spcPts val="800"/>
              </a:spcAf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4: Los "Gigantes Corporativos"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Ingresos billonarios y activos inmensos. Son las líderes absolutas del mercado (energía, infraestructura, grandes superficies) con estructuras pesadas.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BAJA.</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Aunque tienen deudas grandes, su tamaño y generación de caja les da acceso privilegiado a crédito. Son "demasiado grandes para caer" fácilmente, aunque su riesgo es sistémico.</a:t>
            </a:r>
          </a:p>
        </p:txBody>
      </p:sp>
      <p:sp>
        <p:nvSpPr>
          <p:cNvPr id="12" name="CuadroTexto 11">
            <a:extLst>
              <a:ext uri="{FF2B5EF4-FFF2-40B4-BE49-F238E27FC236}">
                <a16:creationId xmlns:a16="http://schemas.microsoft.com/office/drawing/2014/main" id="{C329AFAD-B2F2-6D04-5B44-C0D87A1EAD9C}"/>
              </a:ext>
            </a:extLst>
          </p:cNvPr>
          <p:cNvSpPr txBox="1"/>
          <p:nvPr/>
        </p:nvSpPr>
        <p:spPr>
          <a:xfrm>
            <a:off x="6314384" y="1636738"/>
            <a:ext cx="5460242" cy="2082686"/>
          </a:xfrm>
          <a:prstGeom prst="rect">
            <a:avLst/>
          </a:prstGeom>
          <a:noFill/>
        </p:spPr>
        <p:txBody>
          <a:bodyPr wrap="square">
            <a:spAutoFit/>
          </a:bodyPr>
          <a:lstStyle/>
          <a:p>
            <a:pPr>
              <a:lnSpc>
                <a:spcPct val="115000"/>
              </a:lnSpc>
              <a:spcAft>
                <a:spcPts val="800"/>
              </a:spcAf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5: Las "Insolventes" (Quiebra Técnica)</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Patrimonio negativo y pérdidas operativas constantes. Deben más de lo que tienen (Apalancamiento &gt; 1).</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ESTADO CRÍTICO.</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Técnicamente ya están quebradas. Tienen el riesgo máximo: es muy probable que ya estén en procesos de reorganización o liquidación inminente si no reciben inyecciones de capital externo.</a:t>
            </a:r>
          </a:p>
        </p:txBody>
      </p:sp>
      <p:sp>
        <p:nvSpPr>
          <p:cNvPr id="15" name="CuadroTexto 14">
            <a:extLst>
              <a:ext uri="{FF2B5EF4-FFF2-40B4-BE49-F238E27FC236}">
                <a16:creationId xmlns:a16="http://schemas.microsoft.com/office/drawing/2014/main" id="{58AD8E02-86BF-07F6-5779-F0FBFEE40D4C}"/>
              </a:ext>
            </a:extLst>
          </p:cNvPr>
          <p:cNvSpPr txBox="1"/>
          <p:nvPr/>
        </p:nvSpPr>
        <p:spPr>
          <a:xfrm>
            <a:off x="2792732" y="4539381"/>
            <a:ext cx="6322422" cy="1876219"/>
          </a:xfrm>
          <a:prstGeom prst="rect">
            <a:avLst/>
          </a:prstGeom>
          <a:noFill/>
        </p:spPr>
        <p:txBody>
          <a:bodyPr wrap="square">
            <a:spAutoFit/>
          </a:bodyPr>
          <a:lstStyle/>
          <a:p>
            <a:pPr>
              <a:lnSpc>
                <a:spcPct val="115000"/>
              </a:lnSpc>
              <a:spcAft>
                <a:spcPts val="800"/>
              </a:spcAf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a:t>
            </a:r>
            <a:r>
              <a:rPr lang="es-CO" sz="1200" kern="100" dirty="0" err="1">
                <a:effectLst/>
                <a:latin typeface="ADLaM Display" panose="02010000000000000000" pitchFamily="2" charset="77"/>
                <a:ea typeface="ADLaM Display" panose="02010000000000000000" pitchFamily="2" charset="77"/>
                <a:cs typeface="ADLaM Display" panose="02010000000000000000" pitchFamily="2" charset="77"/>
              </a:rPr>
              <a:t>Cluster</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6: Las "Empresas en Crisis"</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Perfil: Destrucción masiva de valor (pérdidas grandes) y patrimonio a punto de desaparecer (apenas 6% de autonomía).</a:t>
            </a:r>
          </a:p>
          <a:p>
            <a:pPr marL="342900" lvl="0" indent="-342900">
              <a:lnSpc>
                <a:spcPct val="115000"/>
              </a:lnSpc>
              <a:spcAft>
                <a:spcPts val="800"/>
              </a:spcAft>
              <a:buSzPts val="1000"/>
              <a:buFont typeface="Symbol" pitchFamily="2" charset="2"/>
              <a:buChar char=""/>
              <a:tabLst>
                <a:tab pos="4572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Riesgo / Probabilidad de Insolvencia: MUY ALTA.</a:t>
            </a:r>
          </a:p>
          <a:p>
            <a:pPr marL="742950" lvl="1" indent="-285750">
              <a:lnSpc>
                <a:spcPct val="115000"/>
              </a:lnSpc>
              <a:spcAft>
                <a:spcPts val="800"/>
              </a:spcAft>
              <a:buSzPts val="1000"/>
              <a:buFont typeface="Courier New" panose="02070309020205020404" pitchFamily="49" charset="0"/>
              <a:buChar char="o"/>
              <a:tabLst>
                <a:tab pos="914400" algn="l"/>
              </a:tabLst>
            </a:pP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Están en "Cuidados Intensivos". Aún operan, pero están quemando sus últimos recursos. Tienen un riesgo inminente de </a:t>
            </a:r>
            <a:r>
              <a:rPr lang="es-CO" sz="1200" i="1" kern="100" dirty="0">
                <a:effectLst/>
                <a:latin typeface="ADLaM Display" panose="02010000000000000000" pitchFamily="2" charset="77"/>
                <a:ea typeface="ADLaM Display" panose="02010000000000000000" pitchFamily="2" charset="77"/>
                <a:cs typeface="ADLaM Display" panose="02010000000000000000" pitchFamily="2" charset="77"/>
              </a:rPr>
              <a:t>default</a:t>
            </a:r>
            <a:r>
              <a:rPr lang="es-CO" sz="1200" kern="100" dirty="0">
                <a:effectLst/>
                <a:latin typeface="ADLaM Display" panose="02010000000000000000" pitchFamily="2" charset="77"/>
                <a:ea typeface="ADLaM Display" panose="02010000000000000000" pitchFamily="2" charset="77"/>
                <a:cs typeface="ADLaM Display" panose="02010000000000000000" pitchFamily="2" charset="77"/>
              </a:rPr>
              <a:t> (no pago) a corto plazo si no cambian su modelo de negocio drásticamente.</a:t>
            </a:r>
          </a:p>
        </p:txBody>
      </p:sp>
    </p:spTree>
    <p:extLst>
      <p:ext uri="{BB962C8B-B14F-4D97-AF65-F5344CB8AC3E}">
        <p14:creationId xmlns:p14="http://schemas.microsoft.com/office/powerpoint/2010/main" val="2703264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B066D-EB47-AD6E-F8AB-1C3B3A1B9E3B}"/>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A6E0B6D7-E083-1FA2-87B3-83DD91136430}"/>
              </a:ext>
            </a:extLst>
          </p:cNvPr>
          <p:cNvGrpSpPr/>
          <p:nvPr/>
        </p:nvGrpSpPr>
        <p:grpSpPr>
          <a:xfrm>
            <a:off x="0" y="10513"/>
            <a:ext cx="12192000" cy="6836974"/>
            <a:chOff x="0" y="0"/>
            <a:chExt cx="12192000" cy="6836974"/>
          </a:xfrm>
        </p:grpSpPr>
        <p:pic>
          <p:nvPicPr>
            <p:cNvPr id="2" name="Imagen 1">
              <a:extLst>
                <a:ext uri="{FF2B5EF4-FFF2-40B4-BE49-F238E27FC236}">
                  <a16:creationId xmlns:a16="http://schemas.microsoft.com/office/drawing/2014/main" id="{E83D6739-2F4E-1EAE-956C-6BD429C8A817}"/>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E9BFB051-B5E5-4FC8-E049-047C07337412}"/>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31AE3B8E-82D6-CE0C-611F-F0D189B6E73A}"/>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5B37D4D7-FE99-9D90-BE6A-A4FA2A6C29D7}"/>
              </a:ext>
            </a:extLst>
          </p:cNvPr>
          <p:cNvSpPr txBox="1"/>
          <p:nvPr/>
        </p:nvSpPr>
        <p:spPr>
          <a:xfrm>
            <a:off x="366817" y="761218"/>
            <a:ext cx="10208080" cy="1200329"/>
          </a:xfrm>
          <a:prstGeom prst="rect">
            <a:avLst/>
          </a:prstGeom>
          <a:noFill/>
        </p:spPr>
        <p:txBody>
          <a:bodyPr wrap="square" rtlCol="0">
            <a:spAutoFit/>
          </a:bodyPr>
          <a:lstStyle/>
          <a:p>
            <a:r>
              <a:rPr lang="es-CO" sz="3600" b="1" kern="100" dirty="0">
                <a:effectLst/>
                <a:latin typeface="ADLaM Display" panose="02010000000000000000" pitchFamily="2" charset="77"/>
                <a:ea typeface="ADLaM Display" panose="02010000000000000000" pitchFamily="2" charset="77"/>
                <a:cs typeface="ADLaM Display" panose="02010000000000000000" pitchFamily="2" charset="77"/>
              </a:rPr>
              <a:t>Probabilidad de quiebre por </a:t>
            </a:r>
            <a:r>
              <a:rPr lang="es-CO" sz="3600" b="1" kern="100" dirty="0" err="1">
                <a:effectLst/>
                <a:latin typeface="ADLaM Display" panose="02010000000000000000" pitchFamily="2" charset="77"/>
                <a:ea typeface="ADLaM Display" panose="02010000000000000000" pitchFamily="2" charset="77"/>
                <a:cs typeface="ADLaM Display" panose="02010000000000000000" pitchFamily="2" charset="77"/>
              </a:rPr>
              <a:t>clusters</a:t>
            </a:r>
            <a:endParaRPr lang="es-CO" sz="3600" kern="100" dirty="0">
              <a:effectLst/>
              <a:latin typeface="ADLaM Display" panose="02010000000000000000" pitchFamily="2" charset="77"/>
              <a:ea typeface="ADLaM Display" panose="02010000000000000000" pitchFamily="2" charset="77"/>
              <a:cs typeface="ADLaM Display" panose="02010000000000000000" pitchFamily="2" charset="77"/>
            </a:endParaRPr>
          </a:p>
          <a:p>
            <a:endParaRPr lang="es-CO" sz="3600" dirty="0">
              <a:latin typeface="ADLaM Display" panose="020F0502020204030204" pitchFamily="34" charset="0"/>
              <a:cs typeface="ADLaM Display" panose="020F0502020204030204" pitchFamily="34" charset="0"/>
            </a:endParaRPr>
          </a:p>
        </p:txBody>
      </p:sp>
      <p:pic>
        <p:nvPicPr>
          <p:cNvPr id="9" name="Imagen 8">
            <a:extLst>
              <a:ext uri="{FF2B5EF4-FFF2-40B4-BE49-F238E27FC236}">
                <a16:creationId xmlns:a16="http://schemas.microsoft.com/office/drawing/2014/main" id="{EDEE6A10-5DBB-853D-226B-7BE35862ADEF}"/>
              </a:ext>
            </a:extLst>
          </p:cNvPr>
          <p:cNvPicPr>
            <a:picLocks noChangeAspect="1"/>
          </p:cNvPicPr>
          <p:nvPr/>
        </p:nvPicPr>
        <p:blipFill>
          <a:blip r:embed="rId3"/>
          <a:stretch>
            <a:fillRect/>
          </a:stretch>
        </p:blipFill>
        <p:spPr>
          <a:xfrm>
            <a:off x="1000566" y="1545468"/>
            <a:ext cx="5205047" cy="5035994"/>
          </a:xfrm>
          <a:prstGeom prst="rect">
            <a:avLst/>
          </a:prstGeom>
        </p:spPr>
      </p:pic>
      <p:pic>
        <p:nvPicPr>
          <p:cNvPr id="11" name="Imagen 10">
            <a:extLst>
              <a:ext uri="{FF2B5EF4-FFF2-40B4-BE49-F238E27FC236}">
                <a16:creationId xmlns:a16="http://schemas.microsoft.com/office/drawing/2014/main" id="{1E3EBEA7-68B9-DBC7-74D5-4FAE644073B9}"/>
              </a:ext>
            </a:extLst>
          </p:cNvPr>
          <p:cNvPicPr>
            <a:picLocks noChangeAspect="1"/>
          </p:cNvPicPr>
          <p:nvPr/>
        </p:nvPicPr>
        <p:blipFill>
          <a:blip r:embed="rId4"/>
          <a:stretch>
            <a:fillRect/>
          </a:stretch>
        </p:blipFill>
        <p:spPr>
          <a:xfrm>
            <a:off x="8870466" y="2241935"/>
            <a:ext cx="2752181" cy="3643060"/>
          </a:xfrm>
          <a:prstGeom prst="rect">
            <a:avLst/>
          </a:prstGeom>
        </p:spPr>
      </p:pic>
      <p:pic>
        <p:nvPicPr>
          <p:cNvPr id="13" name="Imagen 12">
            <a:extLst>
              <a:ext uri="{FF2B5EF4-FFF2-40B4-BE49-F238E27FC236}">
                <a16:creationId xmlns:a16="http://schemas.microsoft.com/office/drawing/2014/main" id="{24B6C3EE-7672-83B3-B53D-27AB07B42DD9}"/>
              </a:ext>
            </a:extLst>
          </p:cNvPr>
          <p:cNvPicPr>
            <a:picLocks noChangeAspect="1"/>
          </p:cNvPicPr>
          <p:nvPr/>
        </p:nvPicPr>
        <p:blipFill>
          <a:blip r:embed="rId5"/>
          <a:stretch>
            <a:fillRect/>
          </a:stretch>
        </p:blipFill>
        <p:spPr>
          <a:xfrm>
            <a:off x="7959634" y="2681379"/>
            <a:ext cx="910832" cy="3203616"/>
          </a:xfrm>
          <a:prstGeom prst="rect">
            <a:avLst/>
          </a:prstGeom>
        </p:spPr>
      </p:pic>
    </p:spTree>
    <p:extLst>
      <p:ext uri="{BB962C8B-B14F-4D97-AF65-F5344CB8AC3E}">
        <p14:creationId xmlns:p14="http://schemas.microsoft.com/office/powerpoint/2010/main" val="1300347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7E72-33A2-214E-39FF-A526D1290712}"/>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1FBF3984-1942-8464-270D-05E5E693DB87}"/>
              </a:ext>
            </a:extLst>
          </p:cNvPr>
          <p:cNvGrpSpPr/>
          <p:nvPr/>
        </p:nvGrpSpPr>
        <p:grpSpPr>
          <a:xfrm>
            <a:off x="0" y="0"/>
            <a:ext cx="12192000" cy="6836974"/>
            <a:chOff x="0" y="0"/>
            <a:chExt cx="12192000" cy="6836974"/>
          </a:xfrm>
        </p:grpSpPr>
        <p:pic>
          <p:nvPicPr>
            <p:cNvPr id="2" name="Imagen 1">
              <a:extLst>
                <a:ext uri="{FF2B5EF4-FFF2-40B4-BE49-F238E27FC236}">
                  <a16:creationId xmlns:a16="http://schemas.microsoft.com/office/drawing/2014/main" id="{C9664A8D-4D73-5474-8B7B-BD7713777B76}"/>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36241303-76FB-6A14-B284-BFCE412524BA}"/>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E30E2D9-6E3D-8FE3-0F02-0E3C8EF63362}"/>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C054D0B4-C57D-508A-7791-1E617BF22FF4}"/>
              </a:ext>
            </a:extLst>
          </p:cNvPr>
          <p:cNvSpPr txBox="1"/>
          <p:nvPr/>
        </p:nvSpPr>
        <p:spPr>
          <a:xfrm>
            <a:off x="366817" y="761218"/>
            <a:ext cx="10208080" cy="1200329"/>
          </a:xfrm>
          <a:prstGeom prst="rect">
            <a:avLst/>
          </a:prstGeom>
          <a:noFill/>
        </p:spPr>
        <p:txBody>
          <a:bodyPr wrap="square" rtlCol="0">
            <a:spAutoFit/>
          </a:bodyPr>
          <a:lstStyle/>
          <a:p>
            <a:r>
              <a:rPr lang="es-CO" sz="3600" b="1" kern="100" dirty="0">
                <a:effectLst/>
                <a:latin typeface="ADLaM Display" panose="02010000000000000000" pitchFamily="2" charset="77"/>
                <a:ea typeface="ADLaM Display" panose="02010000000000000000" pitchFamily="2" charset="77"/>
                <a:cs typeface="ADLaM Display" panose="02010000000000000000" pitchFamily="2" charset="77"/>
              </a:rPr>
              <a:t>CONCLUSIONES FINALES</a:t>
            </a:r>
            <a:endParaRPr lang="es-CO" sz="3600" kern="100" dirty="0">
              <a:effectLst/>
              <a:latin typeface="ADLaM Display" panose="02010000000000000000" pitchFamily="2" charset="77"/>
              <a:ea typeface="ADLaM Display" panose="02010000000000000000" pitchFamily="2" charset="77"/>
              <a:cs typeface="ADLaM Display" panose="02010000000000000000" pitchFamily="2" charset="77"/>
            </a:endParaRPr>
          </a:p>
          <a:p>
            <a:endParaRPr lang="es-CO" sz="3600" dirty="0">
              <a:latin typeface="ADLaM Display" panose="020F0502020204030204" pitchFamily="34" charset="0"/>
              <a:cs typeface="ADLaM Display" panose="020F0502020204030204" pitchFamily="34" charset="0"/>
            </a:endParaRPr>
          </a:p>
        </p:txBody>
      </p:sp>
      <p:sp>
        <p:nvSpPr>
          <p:cNvPr id="8" name="CuadroTexto 7">
            <a:extLst>
              <a:ext uri="{FF2B5EF4-FFF2-40B4-BE49-F238E27FC236}">
                <a16:creationId xmlns:a16="http://schemas.microsoft.com/office/drawing/2014/main" id="{9082D55E-6124-6A68-2EB3-6FC3C8D4B2EB}"/>
              </a:ext>
            </a:extLst>
          </p:cNvPr>
          <p:cNvSpPr txBox="1"/>
          <p:nvPr/>
        </p:nvSpPr>
        <p:spPr>
          <a:xfrm>
            <a:off x="273714" y="2057948"/>
            <a:ext cx="11551469" cy="4524315"/>
          </a:xfrm>
          <a:prstGeom prst="rect">
            <a:avLst/>
          </a:prstGeom>
          <a:noFill/>
        </p:spPr>
        <p:txBody>
          <a:bodyPr wrap="square">
            <a:spAutoFit/>
          </a:bodyPr>
          <a:lstStyle/>
          <a:p>
            <a:r>
              <a:rPr lang="es-CO" dirty="0"/>
              <a:t>-Las empresas más expuestas a la insolvencia pertenecen principalmente a los </a:t>
            </a:r>
            <a:r>
              <a:rPr lang="es-CO" dirty="0" err="1"/>
              <a:t>Clusters</a:t>
            </a:r>
            <a:r>
              <a:rPr lang="es-CO" dirty="0"/>
              <a:t> 5 y 6, caracterizados por pérdidas operativas, márgenes netos negativos, ROA negativo, y especialmente por altos niveles de apalancamiento y endeudamiento inestable, lo que se convierte en el principal detonante del riesgo financiero. </a:t>
            </a:r>
          </a:p>
          <a:p>
            <a:r>
              <a:rPr lang="es-CO" dirty="0"/>
              <a:t>En contraste, los </a:t>
            </a:r>
            <a:r>
              <a:rPr lang="es-CO" dirty="0" err="1"/>
              <a:t>clusters</a:t>
            </a:r>
            <a:r>
              <a:rPr lang="es-CO" dirty="0"/>
              <a:t> con mayor estabilidad muestran estructuras patrimoniales sólidas, liquidez holgada y márgenes positivos. </a:t>
            </a:r>
          </a:p>
          <a:p>
            <a:endParaRPr lang="es-CO" dirty="0"/>
          </a:p>
          <a:p>
            <a:r>
              <a:rPr lang="es-CO" dirty="0"/>
              <a:t>-Para reducir la probabilidad de quiebra, las organizaciones en mayor riesgo deberían adoptar una estrategia dual: fortalecer su rentabilidad operativa —aumentando el margen neto mediante recorte de costos, optimización de precios y mejora en la eficiencia productiva— y, simultáneamente, reducir su dependencia del endeudamiento, priorizando la reestructuración de pasivos y negociando condiciones financieras más favorables. Además, un incremento en la autonomía financiera permitiría disminuir la presión sobre el flujo de caja, mientras que mejorar la rotación de activos optimizaría el uso de su capacidad instalada. </a:t>
            </a:r>
          </a:p>
          <a:p>
            <a:endParaRPr lang="es-CO" dirty="0"/>
          </a:p>
          <a:p>
            <a:r>
              <a:rPr lang="es-CO" dirty="0"/>
              <a:t>-En síntesis, la combinación de pérdidas persistentes, margen negativo y apalancamiento elevado es el núcleo del riesgo observado; por ello, las empresas en los </a:t>
            </a:r>
            <a:r>
              <a:rPr lang="es-CO" dirty="0" err="1"/>
              <a:t>clusters</a:t>
            </a:r>
            <a:r>
              <a:rPr lang="es-CO" dirty="0"/>
              <a:t> más vulnerables deben enfocarse en recuperar rentabilidad y estabilizar su estructura financiera antes de buscar crecimiento o mayor inversión.</a:t>
            </a:r>
          </a:p>
        </p:txBody>
      </p:sp>
    </p:spTree>
    <p:extLst>
      <p:ext uri="{BB962C8B-B14F-4D97-AF65-F5344CB8AC3E}">
        <p14:creationId xmlns:p14="http://schemas.microsoft.com/office/powerpoint/2010/main" val="568011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C5B0B-8F21-C0FA-31C7-86143E089BDE}"/>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01BA4F78-9F68-FBF0-B327-7A6221F940A2}"/>
              </a:ext>
            </a:extLst>
          </p:cNvPr>
          <p:cNvGrpSpPr/>
          <p:nvPr/>
        </p:nvGrpSpPr>
        <p:grpSpPr>
          <a:xfrm>
            <a:off x="0" y="21026"/>
            <a:ext cx="12192000" cy="6836974"/>
            <a:chOff x="0" y="0"/>
            <a:chExt cx="12192000" cy="6836974"/>
          </a:xfrm>
        </p:grpSpPr>
        <p:pic>
          <p:nvPicPr>
            <p:cNvPr id="2" name="Imagen 1">
              <a:extLst>
                <a:ext uri="{FF2B5EF4-FFF2-40B4-BE49-F238E27FC236}">
                  <a16:creationId xmlns:a16="http://schemas.microsoft.com/office/drawing/2014/main" id="{291465F5-4611-47A3-569C-04FF7C012120}"/>
                </a:ext>
              </a:extLst>
            </p:cNvPr>
            <p:cNvPicPr>
              <a:picLocks noChangeAspect="1"/>
            </p:cNvPicPr>
            <p:nvPr/>
          </p:nvPicPr>
          <p:blipFill>
            <a:blip r:embed="rId2"/>
            <a:stretch>
              <a:fillRect/>
            </a:stretch>
          </p:blipFill>
          <p:spPr>
            <a:xfrm>
              <a:off x="0" y="0"/>
              <a:ext cx="12192000" cy="6836974"/>
            </a:xfrm>
            <a:prstGeom prst="rect">
              <a:avLst/>
            </a:prstGeom>
          </p:spPr>
        </p:pic>
        <p:sp>
          <p:nvSpPr>
            <p:cNvPr id="3" name="Rectángulo 2">
              <a:extLst>
                <a:ext uri="{FF2B5EF4-FFF2-40B4-BE49-F238E27FC236}">
                  <a16:creationId xmlns:a16="http://schemas.microsoft.com/office/drawing/2014/main" id="{9BEFFEC5-45B2-DA7B-A9D8-3E8BEBC13A31}"/>
                </a:ext>
              </a:extLst>
            </p:cNvPr>
            <p:cNvSpPr/>
            <p:nvPr/>
          </p:nvSpPr>
          <p:spPr>
            <a:xfrm>
              <a:off x="155121" y="190429"/>
              <a:ext cx="11846379" cy="109952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50D414EA-42CD-B511-7C78-D721EE3BACA3}"/>
                </a:ext>
              </a:extLst>
            </p:cNvPr>
            <p:cNvSpPr/>
            <p:nvPr/>
          </p:nvSpPr>
          <p:spPr>
            <a:xfrm>
              <a:off x="168728" y="2835657"/>
              <a:ext cx="11854543" cy="278137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6" name="CuadroTexto 5">
            <a:extLst>
              <a:ext uri="{FF2B5EF4-FFF2-40B4-BE49-F238E27FC236}">
                <a16:creationId xmlns:a16="http://schemas.microsoft.com/office/drawing/2014/main" id="{80BBE15C-6B9F-C627-A98C-BA7C53DABA3D}"/>
              </a:ext>
            </a:extLst>
          </p:cNvPr>
          <p:cNvSpPr txBox="1"/>
          <p:nvPr/>
        </p:nvSpPr>
        <p:spPr>
          <a:xfrm>
            <a:off x="974270" y="1533244"/>
            <a:ext cx="10208080" cy="1323439"/>
          </a:xfrm>
          <a:prstGeom prst="rect">
            <a:avLst/>
          </a:prstGeom>
          <a:noFill/>
        </p:spPr>
        <p:txBody>
          <a:bodyPr wrap="square" rtlCol="0">
            <a:spAutoFit/>
          </a:bodyPr>
          <a:lstStyle/>
          <a:p>
            <a:pPr algn="ctr"/>
            <a:r>
              <a:rPr lang="es-CO" sz="3600" dirty="0">
                <a:latin typeface="ADLaM Display" panose="020F0502020204030204" pitchFamily="34" charset="0"/>
                <a:cs typeface="ADLaM Display" panose="020F0502020204030204" pitchFamily="34" charset="0"/>
              </a:rPr>
              <a:t>¡</a:t>
            </a:r>
            <a:r>
              <a:rPr lang="es-CO" sz="8000" dirty="0">
                <a:latin typeface="ADLaM Display" panose="020F0502020204030204" pitchFamily="34" charset="0"/>
                <a:cs typeface="ADLaM Display" panose="020F0502020204030204" pitchFamily="34" charset="0"/>
              </a:rPr>
              <a:t>GRACIAS</a:t>
            </a:r>
            <a:r>
              <a:rPr lang="es-CO" sz="3600" dirty="0">
                <a:latin typeface="ADLaM Display" panose="020F0502020204030204" pitchFamily="34" charset="0"/>
                <a:cs typeface="ADLaM Display" panose="020F0502020204030204" pitchFamily="34" charset="0"/>
              </a:rPr>
              <a:t>!</a:t>
            </a:r>
          </a:p>
        </p:txBody>
      </p:sp>
    </p:spTree>
    <p:extLst>
      <p:ext uri="{BB962C8B-B14F-4D97-AF65-F5344CB8AC3E}">
        <p14:creationId xmlns:p14="http://schemas.microsoft.com/office/powerpoint/2010/main" val="30051403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1393</Words>
  <Application>Microsoft Macintosh PowerPoint</Application>
  <PresentationFormat>Panorámica</PresentationFormat>
  <Paragraphs>101</Paragraphs>
  <Slides>21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21</vt:i4>
      </vt:variant>
    </vt:vector>
  </HeadingPairs>
  <TitlesOfParts>
    <vt:vector size="28" baseType="lpstr">
      <vt:lpstr>ADLaM Display</vt:lpstr>
      <vt:lpstr>Aptos</vt:lpstr>
      <vt:lpstr>Aptos Display</vt:lpstr>
      <vt:lpstr>Arial</vt:lpstr>
      <vt:lpstr>Courier New</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Fabian Yepes Florez</dc:creator>
  <cp:lastModifiedBy>Fabian Yepes Florez</cp:lastModifiedBy>
  <cp:revision>3</cp:revision>
  <dcterms:created xsi:type="dcterms:W3CDTF">2025-08-26T10:10:53Z</dcterms:created>
  <dcterms:modified xsi:type="dcterms:W3CDTF">2025-11-27T08:03:11Z</dcterms:modified>
</cp:coreProperties>
</file>